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2" r:id="rId7"/>
    <p:sldId id="263" r:id="rId8"/>
    <p:sldId id="265"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221A3D"/>
                </a:solidFill>
                <a:latin typeface="Calibri"/>
              </a:defRPr>
            </a:pPr>
            <a:r>
              <a:rPr lang="en-IN" sz="1300" b="0" i="0" u="none" strike="noStrike">
                <a:solidFill>
                  <a:srgbClr val="221A3D"/>
                </a:solidFill>
                <a:latin typeface="Calibri"/>
              </a:rPr>
              <a:t>Orders by City</a:t>
            </a:r>
          </a:p>
        </c:rich>
      </c:tx>
      <c:overlay val="0"/>
    </c:title>
    <c:autoTitleDeleted val="0"/>
    <c:plotArea>
      <c:layout/>
      <c:barChart>
        <c:barDir val="col"/>
        <c:grouping val="clustered"/>
        <c:varyColors val="0"/>
        <c:ser>
          <c:idx val="0"/>
          <c:order val="0"/>
          <c:tx>
            <c:strRef>
              <c:f>Sheet1!$B$1</c:f>
              <c:strCache>
                <c:ptCount val="1"/>
                <c:pt idx="0">
                  <c:v>Total Orders</c:v>
                </c:pt>
              </c:strCache>
            </c:strRef>
          </c:tx>
          <c:spPr>
            <a:solidFill>
              <a:srgbClr val="FF6B35"/>
            </a:solidFill>
            <a:effectLst/>
          </c:spPr>
          <c:invertIfNegative val="0"/>
          <c:dLbls>
            <c:numFmt formatCode="#,##0" sourceLinked="0"/>
            <c:spPr>
              <a:noFill/>
              <a:ln>
                <a:noFill/>
              </a:ln>
              <a:effectLst/>
            </c:spPr>
            <c:txPr>
              <a:bodyPr/>
              <a:lstStyle/>
              <a:p>
                <a:pPr>
                  <a:defRPr sz="950" b="0" i="0" u="none" strike="noStrike">
                    <a:solidFill>
                      <a:srgbClr val="221A3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City_A</c:v>
                </c:pt>
                <c:pt idx="1">
                  <c:v>City_B</c:v>
                </c:pt>
                <c:pt idx="2">
                  <c:v>City_C</c:v>
                </c:pt>
                <c:pt idx="3">
                  <c:v>City_D</c:v>
                </c:pt>
              </c:strCache>
            </c:strRef>
          </c:cat>
          <c:val>
            <c:numRef>
              <c:f>Sheet1!$B$2:$B$5</c:f>
              <c:numCache>
                <c:formatCode>General</c:formatCode>
                <c:ptCount val="4"/>
                <c:pt idx="0">
                  <c:v>19888</c:v>
                </c:pt>
                <c:pt idx="1">
                  <c:v>14885</c:v>
                </c:pt>
                <c:pt idx="2">
                  <c:v>10178</c:v>
                </c:pt>
                <c:pt idx="3">
                  <c:v>5049</c:v>
                </c:pt>
              </c:numCache>
            </c:numRef>
          </c:val>
          <c:extLst>
            <c:ext xmlns:c16="http://schemas.microsoft.com/office/drawing/2014/chart" uri="{C3380CC4-5D6E-409C-BE32-E72D297353CC}">
              <c16:uniqueId val="{00000000-CACF-45F1-93DC-0968D010E49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E7E4F2"/>
            </a:solidFill>
            <a:prstDash val="solid"/>
            <a:round/>
          </a:ln>
        </c:spPr>
        <c:txPr>
          <a:bodyPr/>
          <a:lstStyle/>
          <a:p>
            <a:pPr>
              <a:defRPr sz="1050" b="0" i="0" u="none" strike="noStrike">
                <a:solidFill>
                  <a:srgbClr val="746F9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FEDF7"/>
              </a:solidFill>
              <a:prstDash val="solid"/>
              <a:round/>
            </a:ln>
          </c:spPr>
        </c:majorGridlines>
        <c:numFmt formatCode="General" sourceLinked="0"/>
        <c:majorTickMark val="out"/>
        <c:minorTickMark val="none"/>
        <c:tickLblPos val="nextTo"/>
        <c:spPr>
          <a:ln w="12700" cap="flat">
            <a:solidFill>
              <a:srgbClr val="E7E4F2"/>
            </a:solidFill>
            <a:prstDash val="solid"/>
            <a:round/>
          </a:ln>
        </c:spPr>
        <c:txPr>
          <a:bodyPr/>
          <a:lstStyle/>
          <a:p>
            <a:pPr>
              <a:defRPr sz="900" b="0" i="0" u="none" strike="noStrike">
                <a:solidFill>
                  <a:srgbClr val="746F92"/>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221A3D"/>
                </a:solidFill>
                <a:latin typeface="Calibri"/>
              </a:defRPr>
            </a:pPr>
            <a:r>
              <a:rPr lang="en-IN" sz="1300" b="0" i="0" u="none" strike="noStrike">
                <a:solidFill>
                  <a:srgbClr val="221A3D"/>
                </a:solidFill>
                <a:latin typeface="Calibri"/>
              </a:rPr>
              <a:t>Restaurant Type Mix</a:t>
            </a:r>
          </a:p>
        </c:rich>
      </c:tx>
      <c:overlay val="0"/>
    </c:title>
    <c:autoTitleDeleted val="0"/>
    <c:plotArea>
      <c:layout/>
      <c:doughnutChart>
        <c:varyColors val="1"/>
        <c:ser>
          <c:idx val="0"/>
          <c:order val="0"/>
          <c:tx>
            <c:strRef>
              <c:f>Sheet1!$B$1</c:f>
              <c:strCache>
                <c:ptCount val="1"/>
                <c:pt idx="0">
                  <c:v>Orders</c:v>
                </c:pt>
              </c:strCache>
            </c:strRef>
          </c:tx>
          <c:spPr>
            <a:solidFill>
              <a:schemeClr val="accent1"/>
            </a:solidFill>
            <a:ln w="9525" cap="flat">
              <a:solidFill>
                <a:srgbClr val="F9F9F9"/>
              </a:solidFill>
              <a:prstDash val="solid"/>
              <a:round/>
            </a:ln>
            <a:effectLst/>
          </c:spPr>
          <c:dPt>
            <c:idx val="0"/>
            <c:bubble3D val="0"/>
            <c:spPr>
              <a:solidFill>
                <a:srgbClr val="FF6B35"/>
              </a:solidFill>
              <a:effectLst/>
            </c:spPr>
            <c:extLst>
              <c:ext xmlns:c16="http://schemas.microsoft.com/office/drawing/2014/chart" uri="{C3380CC4-5D6E-409C-BE32-E72D297353CC}">
                <c16:uniqueId val="{00000001-3384-4B16-B484-6CAEAA09B1DE}"/>
              </c:ext>
            </c:extLst>
          </c:dPt>
          <c:dPt>
            <c:idx val="1"/>
            <c:bubble3D val="0"/>
            <c:spPr>
              <a:solidFill>
                <a:srgbClr val="2EC4B6"/>
              </a:solidFill>
              <a:effectLst/>
            </c:spPr>
            <c:extLst>
              <c:ext xmlns:c16="http://schemas.microsoft.com/office/drawing/2014/chart" uri="{C3380CC4-5D6E-409C-BE32-E72D297353CC}">
                <c16:uniqueId val="{00000003-3384-4B16-B484-6CAEAA09B1DE}"/>
              </c:ext>
            </c:extLst>
          </c:dPt>
          <c:dPt>
            <c:idx val="2"/>
            <c:bubble3D val="0"/>
            <c:spPr>
              <a:solidFill>
                <a:srgbClr val="1B1235"/>
              </a:solidFill>
              <a:effectLst/>
            </c:spPr>
            <c:extLst>
              <c:ext xmlns:c16="http://schemas.microsoft.com/office/drawing/2014/chart" uri="{C3380CC4-5D6E-409C-BE32-E72D297353CC}">
                <c16:uniqueId val="{00000005-3384-4B16-B484-6CAEAA09B1DE}"/>
              </c:ext>
            </c:extLst>
          </c:dPt>
          <c:dPt>
            <c:idx val="3"/>
            <c:bubble3D val="0"/>
            <c:spPr>
              <a:solidFill>
                <a:srgbClr val="9B93C9"/>
              </a:solidFill>
              <a:effectLst/>
            </c:spPr>
            <c:extLst>
              <c:ext xmlns:c16="http://schemas.microsoft.com/office/drawing/2014/chart" uri="{C3380CC4-5D6E-409C-BE32-E72D297353CC}">
                <c16:uniqueId val="{00000007-3384-4B16-B484-6CAEAA09B1DE}"/>
              </c:ext>
            </c:extLst>
          </c:dPt>
          <c:cat>
            <c:strRef>
              <c:f>Sheet1!$A$2:$A$5</c:f>
              <c:strCache>
                <c:ptCount val="4"/>
                <c:pt idx="0">
                  <c:v>Fast Food</c:v>
                </c:pt>
                <c:pt idx="1">
                  <c:v>Casual Dining</c:v>
                </c:pt>
                <c:pt idx="2">
                  <c:v>Cafe</c:v>
                </c:pt>
                <c:pt idx="3">
                  <c:v>Fine Dining</c:v>
                </c:pt>
              </c:strCache>
            </c:strRef>
          </c:cat>
          <c:val>
            <c:numRef>
              <c:f>Sheet1!$B$2:$B$5</c:f>
              <c:numCache>
                <c:formatCode>General</c:formatCode>
                <c:ptCount val="4"/>
                <c:pt idx="0">
                  <c:v>27593</c:v>
                </c:pt>
                <c:pt idx="1">
                  <c:v>13063</c:v>
                </c:pt>
                <c:pt idx="2">
                  <c:v>8140</c:v>
                </c:pt>
                <c:pt idx="3">
                  <c:v>1204</c:v>
                </c:pt>
              </c:numCache>
            </c:numRef>
          </c:val>
          <c:extLst>
            <c:ext xmlns:c16="http://schemas.microsoft.com/office/drawing/2014/chart" uri="{C3380CC4-5D6E-409C-BE32-E72D297353CC}">
              <c16:uniqueId val="{00000008-3384-4B16-B484-6CAEAA09B1DE}"/>
            </c:ext>
          </c:extLst>
        </c:ser>
        <c:dLbls>
          <c:showLegendKey val="0"/>
          <c:showVal val="0"/>
          <c:showCatName val="0"/>
          <c:showSerName val="0"/>
          <c:showPercent val="0"/>
          <c:showBubbleSize val="0"/>
          <c:showLeaderLines val="0"/>
        </c:dLbls>
        <c:firstSliceAng val="0"/>
        <c:holeSize val="60"/>
      </c:doughnutChart>
      <c:spPr>
        <a:noFill/>
        <a:ln>
          <a:noFill/>
        </a:ln>
        <a:effectLst/>
      </c:spPr>
    </c:plotArea>
    <c:legend>
      <c:legendPos val="r"/>
      <c:overlay val="0"/>
      <c:txPr>
        <a:bodyPr/>
        <a:lstStyle/>
        <a:p>
          <a:pPr>
            <a:defRPr sz="950">
              <a:solidFill>
                <a:srgbClr val="221A3D"/>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221A3D"/>
                </a:solidFill>
                <a:latin typeface="Calibri"/>
              </a:defRPr>
            </a:pPr>
            <a:r>
              <a:rPr lang="en-US" sz="1300" b="0" i="0" u="none" strike="noStrike">
                <a:solidFill>
                  <a:srgbClr val="221A3D"/>
                </a:solidFill>
                <a:latin typeface="Calibri"/>
              </a:rPr>
              <a:t>Avg. Delivery Time by City (min)</a:t>
            </a:r>
          </a:p>
        </c:rich>
      </c:tx>
      <c:overlay val="0"/>
    </c:title>
    <c:autoTitleDeleted val="0"/>
    <c:plotArea>
      <c:layout/>
      <c:barChart>
        <c:barDir val="col"/>
        <c:grouping val="clustered"/>
        <c:varyColors val="0"/>
        <c:ser>
          <c:idx val="0"/>
          <c:order val="0"/>
          <c:tx>
            <c:strRef>
              <c:f>Sheet1!$B$1</c:f>
              <c:strCache>
                <c:ptCount val="1"/>
                <c:pt idx="0">
                  <c:v>Avg Delivery Time (min)</c:v>
                </c:pt>
              </c:strCache>
            </c:strRef>
          </c:tx>
          <c:spPr>
            <a:solidFill>
              <a:srgbClr val="2EC4B6"/>
            </a:solidFill>
            <a:effectLst/>
          </c:spPr>
          <c:invertIfNegative val="0"/>
          <c:dLbls>
            <c:numFmt formatCode="#,##0" sourceLinked="0"/>
            <c:spPr>
              <a:noFill/>
              <a:ln>
                <a:noFill/>
              </a:ln>
              <a:effectLst/>
            </c:spPr>
            <c:txPr>
              <a:bodyPr/>
              <a:lstStyle/>
              <a:p>
                <a:pPr>
                  <a:defRPr sz="950" b="0" i="0" u="none" strike="noStrike">
                    <a:solidFill>
                      <a:srgbClr val="221A3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City_A</c:v>
                </c:pt>
                <c:pt idx="1">
                  <c:v>City_B</c:v>
                </c:pt>
                <c:pt idx="2">
                  <c:v>City_C</c:v>
                </c:pt>
                <c:pt idx="3">
                  <c:v>City_D</c:v>
                </c:pt>
              </c:strCache>
            </c:strRef>
          </c:cat>
          <c:val>
            <c:numRef>
              <c:f>Sheet1!$B$2:$B$5</c:f>
              <c:numCache>
                <c:formatCode>General</c:formatCode>
                <c:ptCount val="4"/>
                <c:pt idx="0">
                  <c:v>34.96</c:v>
                </c:pt>
                <c:pt idx="1">
                  <c:v>35.96</c:v>
                </c:pt>
                <c:pt idx="2">
                  <c:v>34.04</c:v>
                </c:pt>
                <c:pt idx="3">
                  <c:v>35.43</c:v>
                </c:pt>
              </c:numCache>
            </c:numRef>
          </c:val>
          <c:extLst>
            <c:ext xmlns:c16="http://schemas.microsoft.com/office/drawing/2014/chart" uri="{C3380CC4-5D6E-409C-BE32-E72D297353CC}">
              <c16:uniqueId val="{00000000-FA3D-40B0-92C9-731017F7B2B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E7E4F2"/>
            </a:solidFill>
            <a:prstDash val="solid"/>
            <a:round/>
          </a:ln>
        </c:spPr>
        <c:txPr>
          <a:bodyPr/>
          <a:lstStyle/>
          <a:p>
            <a:pPr>
              <a:defRPr sz="1050" b="0" i="0" u="none" strike="noStrike">
                <a:solidFill>
                  <a:srgbClr val="746F92"/>
                </a:solidFill>
                <a:latin typeface="Arial"/>
              </a:defRPr>
            </a:pPr>
            <a:endParaRPr lang="en-US"/>
          </a:p>
        </c:txPr>
        <c:crossAx val="2094734552"/>
        <c:crosses val="autoZero"/>
        <c:auto val="1"/>
        <c:lblAlgn val="ctr"/>
        <c:lblOffset val="100"/>
        <c:noMultiLvlLbl val="1"/>
      </c:catAx>
      <c:valAx>
        <c:axId val="2094734552"/>
        <c:scaling>
          <c:orientation val="minMax"/>
          <c:min val="30"/>
        </c:scaling>
        <c:delete val="0"/>
        <c:axPos val="l"/>
        <c:majorGridlines>
          <c:spPr>
            <a:ln w="12700" cap="flat">
              <a:solidFill>
                <a:srgbClr val="EFEDF7"/>
              </a:solidFill>
              <a:prstDash val="solid"/>
              <a:round/>
            </a:ln>
          </c:spPr>
        </c:majorGridlines>
        <c:numFmt formatCode="General" sourceLinked="0"/>
        <c:majorTickMark val="out"/>
        <c:minorTickMark val="none"/>
        <c:tickLblPos val="nextTo"/>
        <c:spPr>
          <a:ln w="12700" cap="flat">
            <a:solidFill>
              <a:srgbClr val="E7E4F2"/>
            </a:solidFill>
            <a:prstDash val="solid"/>
            <a:round/>
          </a:ln>
        </c:spPr>
        <c:txPr>
          <a:bodyPr/>
          <a:lstStyle/>
          <a:p>
            <a:pPr>
              <a:defRPr sz="900" b="0" i="0" u="none" strike="noStrike">
                <a:solidFill>
                  <a:srgbClr val="746F92"/>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221A3D"/>
                </a:solidFill>
                <a:latin typeface="Calibri"/>
              </a:defRPr>
            </a:pPr>
            <a:r>
              <a:rPr lang="en-IN" sz="1300" b="0" i="0" u="none" strike="noStrike">
                <a:solidFill>
                  <a:srgbClr val="221A3D"/>
                </a:solidFill>
                <a:latin typeface="Calibri"/>
              </a:rPr>
              <a:t>Top Reasons for Cancellation</a:t>
            </a:r>
          </a:p>
        </c:rich>
      </c:tx>
      <c:overlay val="0"/>
    </c:title>
    <c:autoTitleDeleted val="0"/>
    <c:plotArea>
      <c:layout/>
      <c:barChart>
        <c:barDir val="bar"/>
        <c:grouping val="clustered"/>
        <c:varyColors val="0"/>
        <c:ser>
          <c:idx val="0"/>
          <c:order val="0"/>
          <c:tx>
            <c:strRef>
              <c:f>Sheet1!$B$1</c:f>
              <c:strCache>
                <c:ptCount val="1"/>
                <c:pt idx="0">
                  <c:v>Cancelled Orders</c:v>
                </c:pt>
              </c:strCache>
            </c:strRef>
          </c:tx>
          <c:spPr>
            <a:solidFill>
              <a:srgbClr val="FF6B35"/>
            </a:solidFill>
            <a:effectLst/>
          </c:spPr>
          <c:invertIfNegative val="0"/>
          <c:dLbls>
            <c:numFmt formatCode="#,##0" sourceLinked="0"/>
            <c:spPr>
              <a:noFill/>
              <a:ln>
                <a:noFill/>
              </a:ln>
              <a:effectLst/>
            </c:spPr>
            <c:txPr>
              <a:bodyPr/>
              <a:lstStyle/>
              <a:p>
                <a:pPr>
                  <a:defRPr sz="950" b="0" i="0" u="none" strike="noStrike">
                    <a:solidFill>
                      <a:srgbClr val="221A3D"/>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Long Prep Delay</c:v>
                </c:pt>
                <c:pt idx="1">
                  <c:v>Changed Mind</c:v>
                </c:pt>
                <c:pt idx="2">
                  <c:v>Customer Cancelled</c:v>
                </c:pt>
                <c:pt idx="3">
                  <c:v>Restaurant Unavailable</c:v>
                </c:pt>
                <c:pt idx="4">
                  <c:v>Driver Unassigned</c:v>
                </c:pt>
              </c:strCache>
            </c:strRef>
          </c:cat>
          <c:val>
            <c:numRef>
              <c:f>Sheet1!$B$2:$B$6</c:f>
              <c:numCache>
                <c:formatCode>General</c:formatCode>
                <c:ptCount val="5"/>
                <c:pt idx="0">
                  <c:v>15</c:v>
                </c:pt>
                <c:pt idx="1">
                  <c:v>153</c:v>
                </c:pt>
                <c:pt idx="2">
                  <c:v>154</c:v>
                </c:pt>
                <c:pt idx="3">
                  <c:v>160</c:v>
                </c:pt>
                <c:pt idx="4">
                  <c:v>386</c:v>
                </c:pt>
              </c:numCache>
            </c:numRef>
          </c:val>
          <c:extLst>
            <c:ext xmlns:c16="http://schemas.microsoft.com/office/drawing/2014/chart" uri="{C3380CC4-5D6E-409C-BE32-E72D297353CC}">
              <c16:uniqueId val="{00000000-E990-4AA1-A23D-B1D9B322135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E7E4F2"/>
            </a:solidFill>
            <a:prstDash val="solid"/>
            <a:round/>
          </a:ln>
        </c:spPr>
        <c:txPr>
          <a:bodyPr/>
          <a:lstStyle/>
          <a:p>
            <a:pPr>
              <a:defRPr sz="1000" b="0" i="0" u="none" strike="noStrike">
                <a:solidFill>
                  <a:srgbClr val="221A3D"/>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FEDF7"/>
              </a:solidFill>
              <a:prstDash val="solid"/>
              <a:round/>
            </a:ln>
          </c:spPr>
        </c:majorGridlines>
        <c:numFmt formatCode="General" sourceLinked="0"/>
        <c:majorTickMark val="out"/>
        <c:minorTickMark val="none"/>
        <c:tickLblPos val="low"/>
        <c:spPr>
          <a:ln w="12700" cap="flat">
            <a:solidFill>
              <a:srgbClr val="E7E4F2"/>
            </a:solidFill>
            <a:prstDash val="solid"/>
            <a:round/>
          </a:ln>
        </c:spPr>
        <c:txPr>
          <a:bodyPr/>
          <a:lstStyle/>
          <a:p>
            <a:pPr>
              <a:defRPr sz="900" b="0" i="0" u="none" strike="noStrike">
                <a:solidFill>
                  <a:srgbClr val="746F92"/>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48121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502920"/>
            <a:ext cx="10698480" cy="1005840"/>
          </a:xfrm>
          <a:prstGeom prst="rect">
            <a:avLst/>
          </a:prstGeom>
          <a:noFill/>
          <a:ln/>
        </p:spPr>
        <p:txBody>
          <a:bodyPr wrap="square" rtlCol="0" anchor="ctr"/>
          <a:lstStyle/>
          <a:p>
            <a:pPr marL="0" indent="0" algn="ctr">
              <a:buNone/>
            </a:pPr>
            <a:r>
              <a:rPr lang="en-US" sz="3400" dirty="0">
                <a:solidFill>
                  <a:srgbClr val="1A1A1A"/>
                </a:solidFill>
                <a:latin typeface="Calibri" pitchFamily="34" charset="0"/>
                <a:ea typeface="Calibri" pitchFamily="34" charset="-122"/>
                <a:cs typeface="Calibri" pitchFamily="34" charset="-120"/>
              </a:rPr>
              <a:t>Food Delivery Order and Delivery Performance Analysis</a:t>
            </a:r>
            <a:endParaRPr lang="en-US" sz="3400" dirty="0"/>
          </a:p>
        </p:txBody>
      </p:sp>
      <p:pic>
        <p:nvPicPr>
          <p:cNvPr id="3" name="Image 0" descr="/home/claude/proj/ace_logo.jpg"/>
          <p:cNvPicPr>
            <a:picLocks noChangeAspect="1"/>
          </p:cNvPicPr>
          <p:nvPr/>
        </p:nvPicPr>
        <p:blipFill>
          <a:blip r:embed="rId3"/>
          <a:stretch>
            <a:fillRect/>
          </a:stretch>
        </p:blipFill>
        <p:spPr>
          <a:xfrm>
            <a:off x="4956048" y="1554480"/>
            <a:ext cx="2286000" cy="2240280"/>
          </a:xfrm>
          <a:prstGeom prst="rect">
            <a:avLst/>
          </a:prstGeom>
        </p:spPr>
      </p:pic>
      <p:sp>
        <p:nvSpPr>
          <p:cNvPr id="4" name="Text 1"/>
          <p:cNvSpPr/>
          <p:nvPr/>
        </p:nvSpPr>
        <p:spPr>
          <a:xfrm>
            <a:off x="1737360" y="3977640"/>
            <a:ext cx="3291840" cy="1188720"/>
          </a:xfrm>
          <a:prstGeom prst="rect">
            <a:avLst/>
          </a:prstGeom>
          <a:noFill/>
          <a:ln/>
        </p:spPr>
        <p:txBody>
          <a:bodyPr wrap="square" rtlCol="0" anchor="ctr"/>
          <a:lstStyle/>
          <a:p>
            <a:pPr marL="0" indent="0">
              <a:lnSpc>
                <a:spcPts val="2400"/>
              </a:lnSpc>
              <a:buNone/>
            </a:pPr>
            <a:r>
              <a:rPr lang="en-US" sz="1600" dirty="0">
                <a:solidFill>
                  <a:srgbClr val="1A1A1A"/>
                </a:solidFill>
                <a:latin typeface="Calibri" pitchFamily="34" charset="0"/>
                <a:ea typeface="Calibri" pitchFamily="34" charset="-122"/>
                <a:cs typeface="Calibri" pitchFamily="34" charset="-120"/>
              </a:rPr>
              <a:t>Presented To:</a:t>
            </a:r>
            <a:endParaRPr lang="en-US" sz="1600" dirty="0"/>
          </a:p>
          <a:p>
            <a:pPr marL="0" indent="0">
              <a:lnSpc>
                <a:spcPts val="2400"/>
              </a:lnSpc>
              <a:buNone/>
            </a:pPr>
            <a:r>
              <a:rPr lang="en-US" sz="1600" dirty="0">
                <a:solidFill>
                  <a:srgbClr val="1A1A1A"/>
                </a:solidFill>
                <a:latin typeface="Calibri" pitchFamily="34" charset="0"/>
                <a:ea typeface="Calibri" pitchFamily="34" charset="-122"/>
                <a:cs typeface="Calibri" pitchFamily="34" charset="-120"/>
              </a:rPr>
              <a:t>Er. Pawan Sen</a:t>
            </a:r>
            <a:endParaRPr lang="en-US" sz="1600" dirty="0"/>
          </a:p>
          <a:p>
            <a:pPr marL="0" indent="0">
              <a:lnSpc>
                <a:spcPts val="2400"/>
              </a:lnSpc>
              <a:buNone/>
            </a:pPr>
            <a:r>
              <a:rPr lang="en-US" sz="1600" dirty="0">
                <a:solidFill>
                  <a:srgbClr val="1A1A1A"/>
                </a:solidFill>
                <a:latin typeface="Calibri" pitchFamily="34" charset="0"/>
                <a:ea typeface="Calibri" pitchFamily="34" charset="-122"/>
                <a:cs typeface="Calibri" pitchFamily="34" charset="-120"/>
              </a:rPr>
              <a:t>HOD, CSE</a:t>
            </a:r>
            <a:endParaRPr lang="en-US" sz="1600" dirty="0"/>
          </a:p>
        </p:txBody>
      </p:sp>
      <p:sp>
        <p:nvSpPr>
          <p:cNvPr id="5" name="Text 2"/>
          <p:cNvSpPr/>
          <p:nvPr/>
        </p:nvSpPr>
        <p:spPr>
          <a:xfrm>
            <a:off x="7132320" y="3977640"/>
            <a:ext cx="3291840" cy="1188720"/>
          </a:xfrm>
          <a:prstGeom prst="rect">
            <a:avLst/>
          </a:prstGeom>
          <a:noFill/>
          <a:ln/>
        </p:spPr>
        <p:txBody>
          <a:bodyPr wrap="square" rtlCol="0" anchor="ctr"/>
          <a:lstStyle/>
          <a:p>
            <a:pPr marL="0" indent="0" algn="l">
              <a:lnSpc>
                <a:spcPts val="2400"/>
              </a:lnSpc>
              <a:buNone/>
            </a:pPr>
            <a:r>
              <a:rPr lang="en-US" sz="1600" dirty="0">
                <a:solidFill>
                  <a:srgbClr val="1A1A1A"/>
                </a:solidFill>
                <a:latin typeface="Calibri" pitchFamily="34" charset="0"/>
                <a:ea typeface="Calibri" pitchFamily="34" charset="-122"/>
                <a:cs typeface="Calibri" pitchFamily="34" charset="-120"/>
              </a:rPr>
              <a:t>Presented By:</a:t>
            </a:r>
            <a:endParaRPr lang="en-US" sz="1600" dirty="0"/>
          </a:p>
          <a:p>
            <a:pPr marL="0" indent="0" algn="l">
              <a:lnSpc>
                <a:spcPts val="2400"/>
              </a:lnSpc>
              <a:buNone/>
            </a:pPr>
            <a:r>
              <a:rPr lang="en-US" sz="1600" dirty="0">
                <a:solidFill>
                  <a:srgbClr val="1A1A1A"/>
                </a:solidFill>
                <a:latin typeface="Calibri" pitchFamily="34" charset="0"/>
                <a:ea typeface="Calibri" pitchFamily="34" charset="-122"/>
                <a:cs typeface="Calibri" pitchFamily="34" charset="-120"/>
              </a:rPr>
              <a:t>ARSHI KHAN</a:t>
            </a:r>
            <a:endParaRPr lang="en-US" sz="1600" dirty="0"/>
          </a:p>
          <a:p>
            <a:pPr marL="0" indent="0" algn="l">
              <a:lnSpc>
                <a:spcPts val="2400"/>
              </a:lnSpc>
              <a:buNone/>
            </a:pPr>
            <a:r>
              <a:rPr lang="en-US" sz="1600" dirty="0">
                <a:solidFill>
                  <a:srgbClr val="1A1A1A"/>
                </a:solidFill>
                <a:latin typeface="Calibri" pitchFamily="34" charset="0"/>
                <a:ea typeface="Calibri" pitchFamily="34" charset="-122"/>
                <a:cs typeface="Calibri" pitchFamily="34" charset="-120"/>
              </a:rPr>
              <a:t>RTU Roll No. 24EACCS054</a:t>
            </a:r>
            <a:endParaRPr lang="en-US" sz="1600" dirty="0"/>
          </a:p>
        </p:txBody>
      </p:sp>
      <p:sp>
        <p:nvSpPr>
          <p:cNvPr id="6" name="Text 3"/>
          <p:cNvSpPr/>
          <p:nvPr/>
        </p:nvSpPr>
        <p:spPr>
          <a:xfrm>
            <a:off x="731520" y="5349240"/>
            <a:ext cx="10698480" cy="822960"/>
          </a:xfrm>
          <a:prstGeom prst="rect">
            <a:avLst/>
          </a:prstGeom>
          <a:noFill/>
          <a:ln/>
        </p:spPr>
        <p:txBody>
          <a:bodyPr wrap="square" rtlCol="0" anchor="ctr"/>
          <a:lstStyle/>
          <a:p>
            <a:pPr marL="0" indent="0" algn="ctr">
              <a:lnSpc>
                <a:spcPts val="2400"/>
              </a:lnSpc>
              <a:buNone/>
            </a:pPr>
            <a:r>
              <a:rPr lang="en-US" sz="1600" dirty="0">
                <a:solidFill>
                  <a:srgbClr val="1A1A1A"/>
                </a:solidFill>
                <a:latin typeface="Calibri" pitchFamily="34" charset="0"/>
                <a:ea typeface="Calibri" pitchFamily="34" charset="-122"/>
                <a:cs typeface="Calibri" pitchFamily="34" charset="-120"/>
              </a:rPr>
              <a:t>Department of Computer Science &amp; Engineering</a:t>
            </a:r>
            <a:endParaRPr lang="en-US" sz="1600" dirty="0"/>
          </a:p>
          <a:p>
            <a:pPr marL="0" indent="0" algn="ctr">
              <a:lnSpc>
                <a:spcPts val="2400"/>
              </a:lnSpc>
              <a:buNone/>
            </a:pPr>
            <a:r>
              <a:rPr lang="en-US" sz="1600" dirty="0">
                <a:solidFill>
                  <a:srgbClr val="1A1A1A"/>
                </a:solidFill>
                <a:latin typeface="Calibri" pitchFamily="34" charset="0"/>
                <a:ea typeface="Calibri" pitchFamily="34" charset="-122"/>
                <a:cs typeface="Calibri" pitchFamily="34" charset="-120"/>
              </a:rPr>
              <a:t>Arya College of Engineering, Jaipur</a:t>
            </a:r>
            <a:endParaRPr lang="en-US" sz="1600" dirty="0"/>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B"/>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9144000" cy="548640"/>
          </a:xfrm>
          <a:prstGeom prst="rect">
            <a:avLst/>
          </a:prstGeom>
          <a:noFill/>
          <a:ln/>
        </p:spPr>
        <p:txBody>
          <a:bodyPr wrap="square" lIns="0" tIns="0" rIns="0" bIns="0" rtlCol="0" anchor="ctr"/>
          <a:lstStyle/>
          <a:p>
            <a:pPr marL="0" indent="0">
              <a:buNone/>
            </a:pPr>
            <a:r>
              <a:rPr lang="en-US" sz="3000" b="1" dirty="0">
                <a:solidFill>
                  <a:srgbClr val="221A3D"/>
                </a:solidFill>
                <a:latin typeface="Cambria" pitchFamily="34" charset="0"/>
                <a:ea typeface="Cambria" pitchFamily="34" charset="-122"/>
                <a:cs typeface="Cambria" pitchFamily="34" charset="-120"/>
              </a:rPr>
              <a:t>What This Presentation Covers</a:t>
            </a:r>
            <a:endParaRPr lang="en-US" sz="3000" dirty="0"/>
          </a:p>
        </p:txBody>
      </p:sp>
      <p:sp>
        <p:nvSpPr>
          <p:cNvPr id="3" name="Text 1"/>
          <p:cNvSpPr txBox="1"/>
          <p:nvPr/>
        </p:nvSpPr>
        <p:spPr>
          <a:xfrm>
            <a:off x="640080" y="1024128"/>
            <a:ext cx="9144000" cy="365760"/>
          </a:xfrm>
          <a:prstGeom prst="rect">
            <a:avLst/>
          </a:prstGeom>
          <a:noFill/>
          <a:ln/>
        </p:spPr>
        <p:txBody>
          <a:bodyPr wrap="square" lIns="0" tIns="0" rIns="0" bIns="0" rtlCol="0" anchor="ctr"/>
          <a:lstStyle/>
          <a:p>
            <a:pPr marL="0" indent="0">
              <a:buNone/>
            </a:pPr>
            <a:r>
              <a:rPr lang="en-US" sz="1400" i="1" dirty="0">
                <a:solidFill>
                  <a:srgbClr val="746F92"/>
                </a:solidFill>
                <a:latin typeface="Calibri" pitchFamily="34" charset="0"/>
                <a:ea typeface="Calibri" pitchFamily="34" charset="-122"/>
                <a:cs typeface="Calibri" pitchFamily="34" charset="-120"/>
              </a:rPr>
              <a:t>A quick roadmap of the analysis journey</a:t>
            </a:r>
            <a:endParaRPr lang="en-US" sz="1400" dirty="0"/>
          </a:p>
        </p:txBody>
      </p:sp>
      <p:sp>
        <p:nvSpPr>
          <p:cNvPr id="4" name="Shape 2"/>
          <p:cNvSpPr/>
          <p:nvPr/>
        </p:nvSpPr>
        <p:spPr>
          <a:xfrm>
            <a:off x="640080" y="1691640"/>
            <a:ext cx="5349240" cy="1481328"/>
          </a:xfrm>
          <a:prstGeom prst="roundRect">
            <a:avLst>
              <a:gd name="adj" fmla="val 5556"/>
            </a:avLst>
          </a:prstGeom>
          <a:solidFill>
            <a:srgbClr val="FFFFFF"/>
          </a:solidFill>
          <a:ln w="12700">
            <a:solidFill>
              <a:srgbClr val="E7E4F2"/>
            </a:solidFill>
            <a:prstDash val="solid"/>
          </a:ln>
          <a:effectLst>
            <a:outerShdw blurRad="101600" dist="25400" dir="5400000" algn="bl" rotWithShape="0">
              <a:srgbClr val="3A3060">
                <a:alpha val="12000"/>
              </a:srgbClr>
            </a:outerShdw>
          </a:effectLst>
        </p:spPr>
      </p:sp>
      <p:sp>
        <p:nvSpPr>
          <p:cNvPr id="5" name="Shape 3"/>
          <p:cNvSpPr/>
          <p:nvPr/>
        </p:nvSpPr>
        <p:spPr>
          <a:xfrm>
            <a:off x="896112" y="2020824"/>
            <a:ext cx="822960" cy="822960"/>
          </a:xfrm>
          <a:prstGeom prst="ellipse">
            <a:avLst/>
          </a:prstGeom>
          <a:solidFill>
            <a:srgbClr val="FF6B35"/>
          </a:solidFill>
          <a:ln/>
        </p:spPr>
      </p:sp>
      <p:pic>
        <p:nvPicPr>
          <p:cNvPr id="6" name="Image 0" descr="/home/claude/icons/bullseye.png"/>
          <p:cNvPicPr>
            <a:picLocks noChangeAspect="1"/>
          </p:cNvPicPr>
          <p:nvPr/>
        </p:nvPicPr>
        <p:blipFill>
          <a:blip r:embed="rId3"/>
          <a:stretch>
            <a:fillRect/>
          </a:stretch>
        </p:blipFill>
        <p:spPr>
          <a:xfrm>
            <a:off x="1110082" y="2234794"/>
            <a:ext cx="395021" cy="395021"/>
          </a:xfrm>
          <a:prstGeom prst="rect">
            <a:avLst/>
          </a:prstGeom>
        </p:spPr>
      </p:pic>
      <p:sp>
        <p:nvSpPr>
          <p:cNvPr id="7" name="Text 4"/>
          <p:cNvSpPr txBox="1"/>
          <p:nvPr/>
        </p:nvSpPr>
        <p:spPr>
          <a:xfrm>
            <a:off x="5303520" y="1801368"/>
            <a:ext cx="548640" cy="320040"/>
          </a:xfrm>
          <a:prstGeom prst="rect">
            <a:avLst/>
          </a:prstGeom>
          <a:noFill/>
          <a:ln/>
        </p:spPr>
        <p:txBody>
          <a:bodyPr wrap="square" lIns="0" tIns="0" rIns="0" bIns="0" rtlCol="0" anchor="ctr"/>
          <a:lstStyle/>
          <a:p>
            <a:pPr marL="0" indent="0" algn="r">
              <a:buNone/>
            </a:pPr>
            <a:r>
              <a:rPr lang="en-US" sz="1300" b="1" dirty="0">
                <a:solidFill>
                  <a:srgbClr val="746F92"/>
                </a:solidFill>
                <a:latin typeface="Calibri" pitchFamily="34" charset="0"/>
                <a:ea typeface="Calibri" pitchFamily="34" charset="-122"/>
                <a:cs typeface="Calibri" pitchFamily="34" charset="-120"/>
              </a:rPr>
              <a:t>01</a:t>
            </a:r>
            <a:endParaRPr lang="en-US" sz="1300" dirty="0"/>
          </a:p>
        </p:txBody>
      </p:sp>
      <p:sp>
        <p:nvSpPr>
          <p:cNvPr id="8" name="Text 5"/>
          <p:cNvSpPr txBox="1"/>
          <p:nvPr/>
        </p:nvSpPr>
        <p:spPr>
          <a:xfrm>
            <a:off x="1920240" y="1947672"/>
            <a:ext cx="3429000" cy="365760"/>
          </a:xfrm>
          <a:prstGeom prst="rect">
            <a:avLst/>
          </a:prstGeom>
          <a:noFill/>
          <a:ln/>
        </p:spPr>
        <p:txBody>
          <a:bodyPr wrap="square" lIns="0" tIns="0" rIns="0" bIns="0" rtlCol="0" anchor="ctr"/>
          <a:lstStyle/>
          <a:p>
            <a:pPr marL="0" indent="0">
              <a:buNone/>
            </a:pPr>
            <a:r>
              <a:rPr lang="en-US" sz="1500" b="1" dirty="0">
                <a:solidFill>
                  <a:srgbClr val="221A3D"/>
                </a:solidFill>
                <a:latin typeface="Calibri" pitchFamily="34" charset="0"/>
                <a:ea typeface="Calibri" pitchFamily="34" charset="-122"/>
                <a:cs typeface="Calibri" pitchFamily="34" charset="-120"/>
              </a:rPr>
              <a:t>Problem Statement</a:t>
            </a:r>
            <a:endParaRPr lang="en-US" sz="1500" dirty="0"/>
          </a:p>
        </p:txBody>
      </p:sp>
      <p:sp>
        <p:nvSpPr>
          <p:cNvPr id="9" name="Text 6"/>
          <p:cNvSpPr txBox="1"/>
          <p:nvPr/>
        </p:nvSpPr>
        <p:spPr>
          <a:xfrm>
            <a:off x="1920240" y="2532888"/>
            <a:ext cx="3886200" cy="548640"/>
          </a:xfrm>
          <a:prstGeom prst="rect">
            <a:avLst/>
          </a:prstGeom>
          <a:noFill/>
          <a:ln/>
        </p:spPr>
        <p:txBody>
          <a:bodyPr wrap="square" lIns="0" tIns="0" rIns="0" bIns="0" rtlCol="0" anchor="ctr"/>
          <a:lstStyle/>
          <a:p>
            <a:pPr marL="0" indent="0">
              <a:lnSpc>
                <a:spcPct val="115000"/>
              </a:lnSpc>
              <a:buNone/>
            </a:pPr>
            <a:r>
              <a:rPr lang="en-US" sz="1100" dirty="0">
                <a:solidFill>
                  <a:srgbClr val="746F92"/>
                </a:solidFill>
                <a:latin typeface="Calibri" pitchFamily="34" charset="0"/>
                <a:ea typeface="Calibri" pitchFamily="34" charset="-122"/>
                <a:cs typeface="Calibri" pitchFamily="34" charset="-120"/>
              </a:rPr>
              <a:t>Why delivery performance and cancellations matter</a:t>
            </a:r>
            <a:endParaRPr lang="en-US" sz="1100" dirty="0"/>
          </a:p>
        </p:txBody>
      </p:sp>
      <p:sp>
        <p:nvSpPr>
          <p:cNvPr id="10" name="Shape 7"/>
          <p:cNvSpPr/>
          <p:nvPr/>
        </p:nvSpPr>
        <p:spPr>
          <a:xfrm>
            <a:off x="6263640" y="1691640"/>
            <a:ext cx="5349240" cy="1481328"/>
          </a:xfrm>
          <a:prstGeom prst="roundRect">
            <a:avLst>
              <a:gd name="adj" fmla="val 5556"/>
            </a:avLst>
          </a:prstGeom>
          <a:solidFill>
            <a:srgbClr val="FFFFFF"/>
          </a:solidFill>
          <a:ln w="12700">
            <a:solidFill>
              <a:srgbClr val="E7E4F2"/>
            </a:solidFill>
            <a:prstDash val="solid"/>
          </a:ln>
          <a:effectLst>
            <a:outerShdw blurRad="101600" dist="25400" dir="5400000" algn="bl" rotWithShape="0">
              <a:srgbClr val="3A3060">
                <a:alpha val="12000"/>
              </a:srgbClr>
            </a:outerShdw>
          </a:effectLst>
        </p:spPr>
      </p:sp>
      <p:sp>
        <p:nvSpPr>
          <p:cNvPr id="11" name="Shape 8"/>
          <p:cNvSpPr/>
          <p:nvPr/>
        </p:nvSpPr>
        <p:spPr>
          <a:xfrm>
            <a:off x="6519672" y="2020824"/>
            <a:ext cx="822960" cy="822960"/>
          </a:xfrm>
          <a:prstGeom prst="ellipse">
            <a:avLst/>
          </a:prstGeom>
          <a:solidFill>
            <a:srgbClr val="2EC4B6"/>
          </a:solidFill>
          <a:ln/>
        </p:spPr>
      </p:sp>
      <p:pic>
        <p:nvPicPr>
          <p:cNvPr id="12" name="Image 1" descr="/home/claude/icons/database.png"/>
          <p:cNvPicPr>
            <a:picLocks noChangeAspect="1"/>
          </p:cNvPicPr>
          <p:nvPr/>
        </p:nvPicPr>
        <p:blipFill>
          <a:blip r:embed="rId4"/>
          <a:stretch>
            <a:fillRect/>
          </a:stretch>
        </p:blipFill>
        <p:spPr>
          <a:xfrm>
            <a:off x="6733642" y="2234794"/>
            <a:ext cx="395021" cy="395021"/>
          </a:xfrm>
          <a:prstGeom prst="rect">
            <a:avLst/>
          </a:prstGeom>
        </p:spPr>
      </p:pic>
      <p:sp>
        <p:nvSpPr>
          <p:cNvPr id="13" name="Text 9"/>
          <p:cNvSpPr txBox="1"/>
          <p:nvPr/>
        </p:nvSpPr>
        <p:spPr>
          <a:xfrm>
            <a:off x="10927080" y="1801368"/>
            <a:ext cx="548640" cy="320040"/>
          </a:xfrm>
          <a:prstGeom prst="rect">
            <a:avLst/>
          </a:prstGeom>
          <a:noFill/>
          <a:ln/>
        </p:spPr>
        <p:txBody>
          <a:bodyPr wrap="square" lIns="0" tIns="0" rIns="0" bIns="0" rtlCol="0" anchor="ctr"/>
          <a:lstStyle/>
          <a:p>
            <a:pPr marL="0" indent="0" algn="r">
              <a:buNone/>
            </a:pPr>
            <a:r>
              <a:rPr lang="en-US" sz="1300" b="1" dirty="0">
                <a:solidFill>
                  <a:srgbClr val="746F92"/>
                </a:solidFill>
                <a:latin typeface="Calibri" pitchFamily="34" charset="0"/>
                <a:ea typeface="Calibri" pitchFamily="34" charset="-122"/>
                <a:cs typeface="Calibri" pitchFamily="34" charset="-120"/>
              </a:rPr>
              <a:t>02</a:t>
            </a:r>
            <a:endParaRPr lang="en-US" sz="1300" dirty="0"/>
          </a:p>
        </p:txBody>
      </p:sp>
      <p:sp>
        <p:nvSpPr>
          <p:cNvPr id="14" name="Text 10"/>
          <p:cNvSpPr txBox="1"/>
          <p:nvPr/>
        </p:nvSpPr>
        <p:spPr>
          <a:xfrm>
            <a:off x="7543800" y="1947672"/>
            <a:ext cx="3429000" cy="365760"/>
          </a:xfrm>
          <a:prstGeom prst="rect">
            <a:avLst/>
          </a:prstGeom>
          <a:noFill/>
          <a:ln/>
        </p:spPr>
        <p:txBody>
          <a:bodyPr wrap="square" lIns="0" tIns="0" rIns="0" bIns="0" rtlCol="0" anchor="ctr"/>
          <a:lstStyle/>
          <a:p>
            <a:pPr marL="0" indent="0">
              <a:buNone/>
            </a:pPr>
            <a:r>
              <a:rPr lang="en-US" sz="1500" b="1" dirty="0">
                <a:solidFill>
                  <a:srgbClr val="221A3D"/>
                </a:solidFill>
                <a:latin typeface="Calibri" pitchFamily="34" charset="0"/>
                <a:ea typeface="Calibri" pitchFamily="34" charset="-122"/>
                <a:cs typeface="Calibri" pitchFamily="34" charset="-120"/>
              </a:rPr>
              <a:t>Dataset &amp; Data Cleaning</a:t>
            </a:r>
            <a:endParaRPr lang="en-US" sz="1500" dirty="0"/>
          </a:p>
        </p:txBody>
      </p:sp>
      <p:sp>
        <p:nvSpPr>
          <p:cNvPr id="15" name="Text 11"/>
          <p:cNvSpPr txBox="1"/>
          <p:nvPr/>
        </p:nvSpPr>
        <p:spPr>
          <a:xfrm>
            <a:off x="7543800" y="2532888"/>
            <a:ext cx="3886200" cy="548640"/>
          </a:xfrm>
          <a:prstGeom prst="rect">
            <a:avLst/>
          </a:prstGeom>
          <a:noFill/>
          <a:ln/>
        </p:spPr>
        <p:txBody>
          <a:bodyPr wrap="square" lIns="0" tIns="0" rIns="0" bIns="0" rtlCol="0" anchor="ctr"/>
          <a:lstStyle/>
          <a:p>
            <a:pPr marL="0" indent="0">
              <a:lnSpc>
                <a:spcPct val="115000"/>
              </a:lnSpc>
              <a:buNone/>
            </a:pPr>
            <a:r>
              <a:rPr lang="en-US" sz="1100" dirty="0">
                <a:solidFill>
                  <a:srgbClr val="746F92"/>
                </a:solidFill>
                <a:latin typeface="Calibri" pitchFamily="34" charset="0"/>
                <a:ea typeface="Calibri" pitchFamily="34" charset="-122"/>
                <a:cs typeface="Calibri" pitchFamily="34" charset="-120"/>
              </a:rPr>
              <a:t>50,000 orders cleaned and prepared with pandas</a:t>
            </a:r>
            <a:endParaRPr lang="en-US" sz="1100" dirty="0"/>
          </a:p>
        </p:txBody>
      </p:sp>
      <p:sp>
        <p:nvSpPr>
          <p:cNvPr id="16" name="Shape 12"/>
          <p:cNvSpPr/>
          <p:nvPr/>
        </p:nvSpPr>
        <p:spPr>
          <a:xfrm>
            <a:off x="640080" y="3429000"/>
            <a:ext cx="5349240" cy="1481328"/>
          </a:xfrm>
          <a:prstGeom prst="roundRect">
            <a:avLst>
              <a:gd name="adj" fmla="val 5556"/>
            </a:avLst>
          </a:prstGeom>
          <a:solidFill>
            <a:srgbClr val="FFFFFF"/>
          </a:solidFill>
          <a:ln w="12700">
            <a:solidFill>
              <a:srgbClr val="E7E4F2"/>
            </a:solidFill>
            <a:prstDash val="solid"/>
          </a:ln>
          <a:effectLst>
            <a:outerShdw blurRad="101600" dist="25400" dir="5400000" algn="bl" rotWithShape="0">
              <a:srgbClr val="3A3060">
                <a:alpha val="12000"/>
              </a:srgbClr>
            </a:outerShdw>
          </a:effectLst>
        </p:spPr>
      </p:sp>
      <p:sp>
        <p:nvSpPr>
          <p:cNvPr id="17" name="Shape 13"/>
          <p:cNvSpPr/>
          <p:nvPr/>
        </p:nvSpPr>
        <p:spPr>
          <a:xfrm>
            <a:off x="896112" y="3758184"/>
            <a:ext cx="822960" cy="822960"/>
          </a:xfrm>
          <a:prstGeom prst="ellipse">
            <a:avLst/>
          </a:prstGeom>
          <a:solidFill>
            <a:srgbClr val="1B1235"/>
          </a:solidFill>
          <a:ln/>
        </p:spPr>
      </p:sp>
      <p:pic>
        <p:nvPicPr>
          <p:cNvPr id="18" name="Image 2" descr="/home/claude/icons/cogs.png"/>
          <p:cNvPicPr>
            <a:picLocks noChangeAspect="1"/>
          </p:cNvPicPr>
          <p:nvPr/>
        </p:nvPicPr>
        <p:blipFill>
          <a:blip r:embed="rId5"/>
          <a:stretch>
            <a:fillRect/>
          </a:stretch>
        </p:blipFill>
        <p:spPr>
          <a:xfrm>
            <a:off x="1110082" y="3972154"/>
            <a:ext cx="395021" cy="395021"/>
          </a:xfrm>
          <a:prstGeom prst="rect">
            <a:avLst/>
          </a:prstGeom>
        </p:spPr>
      </p:pic>
      <p:sp>
        <p:nvSpPr>
          <p:cNvPr id="19" name="Text 14"/>
          <p:cNvSpPr txBox="1"/>
          <p:nvPr/>
        </p:nvSpPr>
        <p:spPr>
          <a:xfrm>
            <a:off x="5303520" y="3538728"/>
            <a:ext cx="548640" cy="320040"/>
          </a:xfrm>
          <a:prstGeom prst="rect">
            <a:avLst/>
          </a:prstGeom>
          <a:noFill/>
          <a:ln/>
        </p:spPr>
        <p:txBody>
          <a:bodyPr wrap="square" lIns="0" tIns="0" rIns="0" bIns="0" rtlCol="0" anchor="ctr"/>
          <a:lstStyle/>
          <a:p>
            <a:pPr marL="0" indent="0" algn="r">
              <a:buNone/>
            </a:pPr>
            <a:r>
              <a:rPr lang="en-US" sz="1300" b="1" dirty="0">
                <a:solidFill>
                  <a:srgbClr val="746F92"/>
                </a:solidFill>
                <a:latin typeface="Calibri" pitchFamily="34" charset="0"/>
                <a:ea typeface="Calibri" pitchFamily="34" charset="-122"/>
                <a:cs typeface="Calibri" pitchFamily="34" charset="-120"/>
              </a:rPr>
              <a:t>03</a:t>
            </a:r>
            <a:endParaRPr lang="en-US" sz="1300" dirty="0"/>
          </a:p>
        </p:txBody>
      </p:sp>
      <p:sp>
        <p:nvSpPr>
          <p:cNvPr id="20" name="Text 15"/>
          <p:cNvSpPr txBox="1"/>
          <p:nvPr/>
        </p:nvSpPr>
        <p:spPr>
          <a:xfrm>
            <a:off x="1920240" y="3685032"/>
            <a:ext cx="3429000" cy="365760"/>
          </a:xfrm>
          <a:prstGeom prst="rect">
            <a:avLst/>
          </a:prstGeom>
          <a:noFill/>
          <a:ln/>
        </p:spPr>
        <p:txBody>
          <a:bodyPr wrap="square" lIns="0" tIns="0" rIns="0" bIns="0" rtlCol="0" anchor="ctr"/>
          <a:lstStyle/>
          <a:p>
            <a:pPr marL="0" indent="0">
              <a:buNone/>
            </a:pPr>
            <a:r>
              <a:rPr lang="en-US" sz="1500" b="1" dirty="0">
                <a:solidFill>
                  <a:srgbClr val="221A3D"/>
                </a:solidFill>
                <a:latin typeface="Calibri" pitchFamily="34" charset="0"/>
                <a:ea typeface="Calibri" pitchFamily="34" charset="-122"/>
                <a:cs typeface="Calibri" pitchFamily="34" charset="-120"/>
              </a:rPr>
              <a:t>Methodology &amp; Tools</a:t>
            </a:r>
            <a:endParaRPr lang="en-US" sz="1500" dirty="0"/>
          </a:p>
        </p:txBody>
      </p:sp>
      <p:sp>
        <p:nvSpPr>
          <p:cNvPr id="21" name="Text 16"/>
          <p:cNvSpPr txBox="1"/>
          <p:nvPr/>
        </p:nvSpPr>
        <p:spPr>
          <a:xfrm>
            <a:off x="1920240" y="4270248"/>
            <a:ext cx="3886200" cy="548640"/>
          </a:xfrm>
          <a:prstGeom prst="rect">
            <a:avLst/>
          </a:prstGeom>
          <a:noFill/>
          <a:ln/>
        </p:spPr>
        <p:txBody>
          <a:bodyPr wrap="square" lIns="0" tIns="0" rIns="0" bIns="0" rtlCol="0" anchor="ctr"/>
          <a:lstStyle/>
          <a:p>
            <a:pPr marL="0" indent="0">
              <a:lnSpc>
                <a:spcPct val="115000"/>
              </a:lnSpc>
              <a:buNone/>
            </a:pPr>
            <a:r>
              <a:rPr lang="en-US" sz="1100" dirty="0">
                <a:solidFill>
                  <a:srgbClr val="746F92"/>
                </a:solidFill>
                <a:latin typeface="Calibri" pitchFamily="34" charset="0"/>
                <a:ea typeface="Calibri" pitchFamily="34" charset="-122"/>
                <a:cs typeface="Calibri" pitchFamily="34" charset="-120"/>
              </a:rPr>
              <a:t>The workflow from raw data to dashboard</a:t>
            </a:r>
            <a:endParaRPr lang="en-US" sz="1100" dirty="0"/>
          </a:p>
        </p:txBody>
      </p:sp>
      <p:sp>
        <p:nvSpPr>
          <p:cNvPr id="22" name="Shape 17"/>
          <p:cNvSpPr/>
          <p:nvPr/>
        </p:nvSpPr>
        <p:spPr>
          <a:xfrm>
            <a:off x="6263640" y="3429000"/>
            <a:ext cx="5349240" cy="1481328"/>
          </a:xfrm>
          <a:prstGeom prst="roundRect">
            <a:avLst>
              <a:gd name="adj" fmla="val 5556"/>
            </a:avLst>
          </a:prstGeom>
          <a:solidFill>
            <a:srgbClr val="FFFFFF"/>
          </a:solidFill>
          <a:ln w="12700">
            <a:solidFill>
              <a:srgbClr val="E7E4F2"/>
            </a:solidFill>
            <a:prstDash val="solid"/>
          </a:ln>
          <a:effectLst>
            <a:outerShdw blurRad="101600" dist="25400" dir="5400000" algn="bl" rotWithShape="0">
              <a:srgbClr val="3A3060">
                <a:alpha val="12000"/>
              </a:srgbClr>
            </a:outerShdw>
          </a:effectLst>
        </p:spPr>
      </p:sp>
      <p:sp>
        <p:nvSpPr>
          <p:cNvPr id="23" name="Shape 18"/>
          <p:cNvSpPr/>
          <p:nvPr/>
        </p:nvSpPr>
        <p:spPr>
          <a:xfrm>
            <a:off x="6519672" y="3758184"/>
            <a:ext cx="822960" cy="822960"/>
          </a:xfrm>
          <a:prstGeom prst="ellipse">
            <a:avLst/>
          </a:prstGeom>
          <a:solidFill>
            <a:srgbClr val="FF6B35"/>
          </a:solidFill>
          <a:ln/>
        </p:spPr>
      </p:sp>
      <p:pic>
        <p:nvPicPr>
          <p:cNvPr id="24" name="Image 3" descr="/home/claude/icons/dashboard.png"/>
          <p:cNvPicPr>
            <a:picLocks noChangeAspect="1"/>
          </p:cNvPicPr>
          <p:nvPr/>
        </p:nvPicPr>
        <p:blipFill>
          <a:blip r:embed="rId6"/>
          <a:stretch>
            <a:fillRect/>
          </a:stretch>
        </p:blipFill>
        <p:spPr>
          <a:xfrm>
            <a:off x="6733642" y="3972154"/>
            <a:ext cx="395021" cy="395021"/>
          </a:xfrm>
          <a:prstGeom prst="rect">
            <a:avLst/>
          </a:prstGeom>
        </p:spPr>
      </p:pic>
      <p:sp>
        <p:nvSpPr>
          <p:cNvPr id="25" name="Text 19"/>
          <p:cNvSpPr txBox="1"/>
          <p:nvPr/>
        </p:nvSpPr>
        <p:spPr>
          <a:xfrm>
            <a:off x="10927080" y="3538728"/>
            <a:ext cx="548640" cy="320040"/>
          </a:xfrm>
          <a:prstGeom prst="rect">
            <a:avLst/>
          </a:prstGeom>
          <a:noFill/>
          <a:ln/>
        </p:spPr>
        <p:txBody>
          <a:bodyPr wrap="square" lIns="0" tIns="0" rIns="0" bIns="0" rtlCol="0" anchor="ctr"/>
          <a:lstStyle/>
          <a:p>
            <a:pPr marL="0" indent="0" algn="r">
              <a:buNone/>
            </a:pPr>
            <a:r>
              <a:rPr lang="en-US" sz="1300" b="1" dirty="0">
                <a:solidFill>
                  <a:srgbClr val="746F92"/>
                </a:solidFill>
                <a:latin typeface="Calibri" pitchFamily="34" charset="0"/>
                <a:ea typeface="Calibri" pitchFamily="34" charset="-122"/>
                <a:cs typeface="Calibri" pitchFamily="34" charset="-120"/>
              </a:rPr>
              <a:t>04</a:t>
            </a:r>
            <a:endParaRPr lang="en-US" sz="1300" dirty="0"/>
          </a:p>
        </p:txBody>
      </p:sp>
      <p:sp>
        <p:nvSpPr>
          <p:cNvPr id="26" name="Text 20"/>
          <p:cNvSpPr txBox="1"/>
          <p:nvPr/>
        </p:nvSpPr>
        <p:spPr>
          <a:xfrm>
            <a:off x="7543800" y="3685032"/>
            <a:ext cx="3429000" cy="365760"/>
          </a:xfrm>
          <a:prstGeom prst="rect">
            <a:avLst/>
          </a:prstGeom>
          <a:noFill/>
          <a:ln/>
        </p:spPr>
        <p:txBody>
          <a:bodyPr wrap="square" lIns="0" tIns="0" rIns="0" bIns="0" rtlCol="0" anchor="ctr"/>
          <a:lstStyle/>
          <a:p>
            <a:pPr marL="0" indent="0">
              <a:buNone/>
            </a:pPr>
            <a:r>
              <a:rPr lang="en-US" sz="1500" b="1" dirty="0">
                <a:solidFill>
                  <a:srgbClr val="221A3D"/>
                </a:solidFill>
                <a:latin typeface="Calibri" pitchFamily="34" charset="0"/>
                <a:ea typeface="Calibri" pitchFamily="34" charset="-122"/>
                <a:cs typeface="Calibri" pitchFamily="34" charset="-120"/>
              </a:rPr>
              <a:t>Dashboard Showcase</a:t>
            </a:r>
            <a:endParaRPr lang="en-US" sz="1500" dirty="0"/>
          </a:p>
        </p:txBody>
      </p:sp>
      <p:sp>
        <p:nvSpPr>
          <p:cNvPr id="27" name="Text 21"/>
          <p:cNvSpPr txBox="1"/>
          <p:nvPr/>
        </p:nvSpPr>
        <p:spPr>
          <a:xfrm>
            <a:off x="7543800" y="4270248"/>
            <a:ext cx="3886200" cy="548640"/>
          </a:xfrm>
          <a:prstGeom prst="rect">
            <a:avLst/>
          </a:prstGeom>
          <a:noFill/>
          <a:ln/>
        </p:spPr>
        <p:txBody>
          <a:bodyPr wrap="square" lIns="0" tIns="0" rIns="0" bIns="0" rtlCol="0" anchor="ctr"/>
          <a:lstStyle/>
          <a:p>
            <a:pPr marL="0" indent="0">
              <a:lnSpc>
                <a:spcPct val="115000"/>
              </a:lnSpc>
              <a:buNone/>
            </a:pPr>
            <a:r>
              <a:rPr lang="en-US" sz="1100" dirty="0">
                <a:solidFill>
                  <a:srgbClr val="746F92"/>
                </a:solidFill>
                <a:latin typeface="Calibri" pitchFamily="34" charset="0"/>
                <a:ea typeface="Calibri" pitchFamily="34" charset="-122"/>
                <a:cs typeface="Calibri" pitchFamily="34" charset="-120"/>
              </a:rPr>
              <a:t>Interactive Power BI dashboard walkthrough</a:t>
            </a:r>
            <a:endParaRPr lang="en-US" sz="1100" dirty="0"/>
          </a:p>
        </p:txBody>
      </p:sp>
      <p:sp>
        <p:nvSpPr>
          <p:cNvPr id="28" name="Shape 22"/>
          <p:cNvSpPr/>
          <p:nvPr/>
        </p:nvSpPr>
        <p:spPr>
          <a:xfrm>
            <a:off x="640080" y="5166360"/>
            <a:ext cx="5349240" cy="1481328"/>
          </a:xfrm>
          <a:prstGeom prst="roundRect">
            <a:avLst>
              <a:gd name="adj" fmla="val 5556"/>
            </a:avLst>
          </a:prstGeom>
          <a:solidFill>
            <a:srgbClr val="FFFFFF"/>
          </a:solidFill>
          <a:ln w="12700">
            <a:solidFill>
              <a:srgbClr val="E7E4F2"/>
            </a:solidFill>
            <a:prstDash val="solid"/>
          </a:ln>
          <a:effectLst>
            <a:outerShdw blurRad="101600" dist="25400" dir="5400000" algn="bl" rotWithShape="0">
              <a:srgbClr val="3A3060">
                <a:alpha val="12000"/>
              </a:srgbClr>
            </a:outerShdw>
          </a:effectLst>
        </p:spPr>
      </p:sp>
      <p:sp>
        <p:nvSpPr>
          <p:cNvPr id="29" name="Shape 23"/>
          <p:cNvSpPr/>
          <p:nvPr/>
        </p:nvSpPr>
        <p:spPr>
          <a:xfrm>
            <a:off x="896112" y="5495544"/>
            <a:ext cx="822960" cy="822960"/>
          </a:xfrm>
          <a:prstGeom prst="ellipse">
            <a:avLst/>
          </a:prstGeom>
          <a:solidFill>
            <a:srgbClr val="2EC4B6"/>
          </a:solidFill>
          <a:ln/>
        </p:spPr>
      </p:sp>
      <p:pic>
        <p:nvPicPr>
          <p:cNvPr id="30" name="Image 4" descr="/home/claude/icons/chartbar.png"/>
          <p:cNvPicPr>
            <a:picLocks noChangeAspect="1"/>
          </p:cNvPicPr>
          <p:nvPr/>
        </p:nvPicPr>
        <p:blipFill>
          <a:blip r:embed="rId7"/>
          <a:stretch>
            <a:fillRect/>
          </a:stretch>
        </p:blipFill>
        <p:spPr>
          <a:xfrm>
            <a:off x="1110082" y="5709514"/>
            <a:ext cx="395021" cy="395021"/>
          </a:xfrm>
          <a:prstGeom prst="rect">
            <a:avLst/>
          </a:prstGeom>
        </p:spPr>
      </p:pic>
      <p:sp>
        <p:nvSpPr>
          <p:cNvPr id="31" name="Text 24"/>
          <p:cNvSpPr txBox="1"/>
          <p:nvPr/>
        </p:nvSpPr>
        <p:spPr>
          <a:xfrm>
            <a:off x="5303520" y="5276088"/>
            <a:ext cx="548640" cy="320040"/>
          </a:xfrm>
          <a:prstGeom prst="rect">
            <a:avLst/>
          </a:prstGeom>
          <a:noFill/>
          <a:ln/>
        </p:spPr>
        <p:txBody>
          <a:bodyPr wrap="square" lIns="0" tIns="0" rIns="0" bIns="0" rtlCol="0" anchor="ctr"/>
          <a:lstStyle/>
          <a:p>
            <a:pPr marL="0" indent="0" algn="r">
              <a:buNone/>
            </a:pPr>
            <a:r>
              <a:rPr lang="en-US" sz="1300" b="1" dirty="0">
                <a:solidFill>
                  <a:srgbClr val="746F92"/>
                </a:solidFill>
                <a:latin typeface="Calibri" pitchFamily="34" charset="0"/>
                <a:ea typeface="Calibri" pitchFamily="34" charset="-122"/>
                <a:cs typeface="Calibri" pitchFamily="34" charset="-120"/>
              </a:rPr>
              <a:t>05</a:t>
            </a:r>
            <a:endParaRPr lang="en-US" sz="1300" dirty="0"/>
          </a:p>
        </p:txBody>
      </p:sp>
      <p:sp>
        <p:nvSpPr>
          <p:cNvPr id="32" name="Text 25"/>
          <p:cNvSpPr txBox="1"/>
          <p:nvPr/>
        </p:nvSpPr>
        <p:spPr>
          <a:xfrm>
            <a:off x="1920240" y="5422392"/>
            <a:ext cx="3429000" cy="365760"/>
          </a:xfrm>
          <a:prstGeom prst="rect">
            <a:avLst/>
          </a:prstGeom>
          <a:noFill/>
          <a:ln/>
        </p:spPr>
        <p:txBody>
          <a:bodyPr wrap="square" lIns="0" tIns="0" rIns="0" bIns="0" rtlCol="0" anchor="ctr"/>
          <a:lstStyle/>
          <a:p>
            <a:pPr marL="0" indent="0">
              <a:buNone/>
            </a:pPr>
            <a:r>
              <a:rPr lang="en-US" sz="1500" b="1" dirty="0">
                <a:solidFill>
                  <a:srgbClr val="221A3D"/>
                </a:solidFill>
                <a:latin typeface="Calibri" pitchFamily="34" charset="0"/>
                <a:ea typeface="Calibri" pitchFamily="34" charset="-122"/>
                <a:cs typeface="Calibri" pitchFamily="34" charset="-120"/>
              </a:rPr>
              <a:t>Key Insights</a:t>
            </a:r>
            <a:endParaRPr lang="en-US" sz="1500" dirty="0"/>
          </a:p>
        </p:txBody>
      </p:sp>
      <p:sp>
        <p:nvSpPr>
          <p:cNvPr id="33" name="Text 26"/>
          <p:cNvSpPr txBox="1"/>
          <p:nvPr/>
        </p:nvSpPr>
        <p:spPr>
          <a:xfrm>
            <a:off x="1920240" y="6007608"/>
            <a:ext cx="3886200" cy="548640"/>
          </a:xfrm>
          <a:prstGeom prst="rect">
            <a:avLst/>
          </a:prstGeom>
          <a:noFill/>
          <a:ln/>
        </p:spPr>
        <p:txBody>
          <a:bodyPr wrap="square" lIns="0" tIns="0" rIns="0" bIns="0" rtlCol="0" anchor="ctr"/>
          <a:lstStyle/>
          <a:p>
            <a:pPr marL="0" indent="0">
              <a:lnSpc>
                <a:spcPct val="115000"/>
              </a:lnSpc>
              <a:buNone/>
            </a:pPr>
            <a:r>
              <a:rPr lang="en-US" sz="1100" dirty="0">
                <a:solidFill>
                  <a:srgbClr val="746F92"/>
                </a:solidFill>
                <a:latin typeface="Calibri" pitchFamily="34" charset="0"/>
                <a:ea typeface="Calibri" pitchFamily="34" charset="-122"/>
                <a:cs typeface="Calibri" pitchFamily="34" charset="-120"/>
              </a:rPr>
              <a:t>Orders, revenue, delivery time &amp; cancellations</a:t>
            </a:r>
            <a:endParaRPr lang="en-US" sz="1100" dirty="0"/>
          </a:p>
        </p:txBody>
      </p:sp>
      <p:sp>
        <p:nvSpPr>
          <p:cNvPr id="34" name="Shape 27"/>
          <p:cNvSpPr/>
          <p:nvPr/>
        </p:nvSpPr>
        <p:spPr>
          <a:xfrm>
            <a:off x="6263640" y="5166360"/>
            <a:ext cx="5349240" cy="1481328"/>
          </a:xfrm>
          <a:prstGeom prst="roundRect">
            <a:avLst>
              <a:gd name="adj" fmla="val 5556"/>
            </a:avLst>
          </a:prstGeom>
          <a:solidFill>
            <a:srgbClr val="FFFFFF"/>
          </a:solidFill>
          <a:ln w="12700">
            <a:solidFill>
              <a:srgbClr val="E7E4F2"/>
            </a:solidFill>
            <a:prstDash val="solid"/>
          </a:ln>
          <a:effectLst>
            <a:outerShdw blurRad="101600" dist="25400" dir="5400000" algn="bl" rotWithShape="0">
              <a:srgbClr val="3A3060">
                <a:alpha val="12000"/>
              </a:srgbClr>
            </a:outerShdw>
          </a:effectLst>
        </p:spPr>
      </p:sp>
      <p:sp>
        <p:nvSpPr>
          <p:cNvPr id="35" name="Shape 28"/>
          <p:cNvSpPr/>
          <p:nvPr/>
        </p:nvSpPr>
        <p:spPr>
          <a:xfrm>
            <a:off x="6519672" y="5495544"/>
            <a:ext cx="822960" cy="822960"/>
          </a:xfrm>
          <a:prstGeom prst="ellipse">
            <a:avLst/>
          </a:prstGeom>
          <a:solidFill>
            <a:srgbClr val="1B1235"/>
          </a:solidFill>
          <a:ln/>
        </p:spPr>
      </p:sp>
      <p:pic>
        <p:nvPicPr>
          <p:cNvPr id="36" name="Image 5" descr="/home/claude/icons/lightbulb.png"/>
          <p:cNvPicPr>
            <a:picLocks noChangeAspect="1"/>
          </p:cNvPicPr>
          <p:nvPr/>
        </p:nvPicPr>
        <p:blipFill>
          <a:blip r:embed="rId8"/>
          <a:stretch>
            <a:fillRect/>
          </a:stretch>
        </p:blipFill>
        <p:spPr>
          <a:xfrm>
            <a:off x="6733642" y="5709514"/>
            <a:ext cx="395021" cy="395021"/>
          </a:xfrm>
          <a:prstGeom prst="rect">
            <a:avLst/>
          </a:prstGeom>
        </p:spPr>
      </p:pic>
      <p:sp>
        <p:nvSpPr>
          <p:cNvPr id="37" name="Text 29"/>
          <p:cNvSpPr txBox="1"/>
          <p:nvPr/>
        </p:nvSpPr>
        <p:spPr>
          <a:xfrm>
            <a:off x="10927080" y="5276088"/>
            <a:ext cx="548640" cy="320040"/>
          </a:xfrm>
          <a:prstGeom prst="rect">
            <a:avLst/>
          </a:prstGeom>
          <a:noFill/>
          <a:ln/>
        </p:spPr>
        <p:txBody>
          <a:bodyPr wrap="square" lIns="0" tIns="0" rIns="0" bIns="0" rtlCol="0" anchor="ctr"/>
          <a:lstStyle/>
          <a:p>
            <a:pPr marL="0" indent="0" algn="r">
              <a:buNone/>
            </a:pPr>
            <a:r>
              <a:rPr lang="en-US" sz="1300" b="1" dirty="0">
                <a:solidFill>
                  <a:srgbClr val="746F92"/>
                </a:solidFill>
                <a:latin typeface="Calibri" pitchFamily="34" charset="0"/>
                <a:ea typeface="Calibri" pitchFamily="34" charset="-122"/>
                <a:cs typeface="Calibri" pitchFamily="34" charset="-120"/>
              </a:rPr>
              <a:t>06</a:t>
            </a:r>
            <a:endParaRPr lang="en-US" sz="1300" dirty="0"/>
          </a:p>
        </p:txBody>
      </p:sp>
      <p:sp>
        <p:nvSpPr>
          <p:cNvPr id="38" name="Text 30"/>
          <p:cNvSpPr txBox="1"/>
          <p:nvPr/>
        </p:nvSpPr>
        <p:spPr>
          <a:xfrm>
            <a:off x="7543800" y="5422392"/>
            <a:ext cx="3429000" cy="365760"/>
          </a:xfrm>
          <a:prstGeom prst="rect">
            <a:avLst/>
          </a:prstGeom>
          <a:noFill/>
          <a:ln/>
        </p:spPr>
        <p:txBody>
          <a:bodyPr wrap="square" lIns="0" tIns="0" rIns="0" bIns="0" rtlCol="0" anchor="ctr"/>
          <a:lstStyle/>
          <a:p>
            <a:pPr marL="0" indent="0">
              <a:buNone/>
            </a:pPr>
            <a:r>
              <a:rPr lang="en-US" sz="1500" b="1" dirty="0">
                <a:solidFill>
                  <a:srgbClr val="221A3D"/>
                </a:solidFill>
                <a:latin typeface="Calibri" pitchFamily="34" charset="0"/>
                <a:ea typeface="Calibri" pitchFamily="34" charset="-122"/>
                <a:cs typeface="Calibri" pitchFamily="34" charset="-120"/>
              </a:rPr>
              <a:t>Conclusion &amp; Recommendations</a:t>
            </a:r>
            <a:endParaRPr lang="en-US" sz="1500" dirty="0"/>
          </a:p>
        </p:txBody>
      </p:sp>
      <p:sp>
        <p:nvSpPr>
          <p:cNvPr id="39" name="Text 31"/>
          <p:cNvSpPr txBox="1"/>
          <p:nvPr/>
        </p:nvSpPr>
        <p:spPr>
          <a:xfrm>
            <a:off x="7543800" y="6007608"/>
            <a:ext cx="3886200" cy="548640"/>
          </a:xfrm>
          <a:prstGeom prst="rect">
            <a:avLst/>
          </a:prstGeom>
          <a:noFill/>
          <a:ln/>
        </p:spPr>
        <p:txBody>
          <a:bodyPr wrap="square" lIns="0" tIns="0" rIns="0" bIns="0" rtlCol="0" anchor="ctr"/>
          <a:lstStyle/>
          <a:p>
            <a:pPr marL="0" indent="0">
              <a:lnSpc>
                <a:spcPct val="115000"/>
              </a:lnSpc>
              <a:buNone/>
            </a:pPr>
            <a:r>
              <a:rPr lang="en-US" sz="1100" dirty="0">
                <a:solidFill>
                  <a:srgbClr val="746F92"/>
                </a:solidFill>
                <a:latin typeface="Calibri" pitchFamily="34" charset="0"/>
                <a:ea typeface="Calibri" pitchFamily="34" charset="-122"/>
                <a:cs typeface="Calibri" pitchFamily="34" charset="-120"/>
              </a:rPr>
              <a:t>What the data tells the business to do next</a:t>
            </a:r>
            <a:endParaRPr lang="en-US" sz="1100" dirty="0"/>
          </a:p>
        </p:txBody>
      </p:sp>
      <p:sp>
        <p:nvSpPr>
          <p:cNvPr id="40" name="Text 32"/>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kern="0" spc="100" dirty="0">
                <a:solidFill>
                  <a:srgbClr val="746F92"/>
                </a:solidFill>
                <a:latin typeface="Calibri" pitchFamily="34" charset="0"/>
                <a:ea typeface="Calibri" pitchFamily="34" charset="-122"/>
                <a:cs typeface="Calibri" pitchFamily="34" charset="-120"/>
              </a:rPr>
              <a:t>FOOD DELIVERY ORDER &amp; DELIVERY PERFORMANCE ANALYSIS</a:t>
            </a:r>
            <a:endParaRPr lang="en-US" sz="900" dirty="0"/>
          </a:p>
        </p:txBody>
      </p:sp>
      <p:sp>
        <p:nvSpPr>
          <p:cNvPr id="41" name="Text 33"/>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F92"/>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1235"/>
        </a:solidFill>
        <a:effectLst/>
      </p:bgPr>
    </p:bg>
    <p:spTree>
      <p:nvGrpSpPr>
        <p:cNvPr id="1" name=""/>
        <p:cNvGrpSpPr/>
        <p:nvPr/>
      </p:nvGrpSpPr>
      <p:grpSpPr>
        <a:xfrm>
          <a:off x="0" y="0"/>
          <a:ext cx="0" cy="0"/>
          <a:chOff x="0" y="0"/>
          <a:chExt cx="0" cy="0"/>
        </a:xfrm>
      </p:grpSpPr>
      <p:sp>
        <p:nvSpPr>
          <p:cNvPr id="2" name="Shape 0"/>
          <p:cNvSpPr/>
          <p:nvPr/>
        </p:nvSpPr>
        <p:spPr>
          <a:xfrm>
            <a:off x="9966960" y="-1645920"/>
            <a:ext cx="4206240" cy="4206240"/>
          </a:xfrm>
          <a:prstGeom prst="ellipse">
            <a:avLst/>
          </a:prstGeom>
          <a:solidFill>
            <a:srgbClr val="2A1D52"/>
          </a:solidFill>
          <a:ln/>
        </p:spPr>
      </p:sp>
      <p:sp>
        <p:nvSpPr>
          <p:cNvPr id="3" name="Text 1"/>
          <p:cNvSpPr txBox="1"/>
          <p:nvPr/>
        </p:nvSpPr>
        <p:spPr>
          <a:xfrm>
            <a:off x="640080" y="502920"/>
            <a:ext cx="9144000" cy="365760"/>
          </a:xfrm>
          <a:prstGeom prst="rect">
            <a:avLst/>
          </a:prstGeom>
          <a:noFill/>
          <a:ln/>
        </p:spPr>
        <p:txBody>
          <a:bodyPr wrap="square" lIns="0" tIns="0" rIns="0" bIns="0" rtlCol="0" anchor="ctr"/>
          <a:lstStyle/>
          <a:p>
            <a:pPr marL="0" indent="0">
              <a:buNone/>
            </a:pPr>
            <a:r>
              <a:rPr lang="en-US" sz="1300" b="1" kern="0" spc="200" dirty="0">
                <a:solidFill>
                  <a:srgbClr val="FF6B35"/>
                </a:solidFill>
                <a:latin typeface="Calibri" pitchFamily="34" charset="0"/>
                <a:ea typeface="Calibri" pitchFamily="34" charset="-122"/>
                <a:cs typeface="Calibri" pitchFamily="34" charset="-120"/>
              </a:rPr>
              <a:t>PROBLEM STATEMENT &amp; OBJECTIVES</a:t>
            </a:r>
            <a:endParaRPr lang="en-US" sz="1300" dirty="0"/>
          </a:p>
        </p:txBody>
      </p:sp>
      <p:sp>
        <p:nvSpPr>
          <p:cNvPr id="4" name="Text 2"/>
          <p:cNvSpPr txBox="1"/>
          <p:nvPr/>
        </p:nvSpPr>
        <p:spPr>
          <a:xfrm>
            <a:off x="640080" y="868680"/>
            <a:ext cx="10515600" cy="7315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Every late order chips away at customer trust</a:t>
            </a:r>
            <a:endParaRPr lang="en-US" sz="2800" dirty="0"/>
          </a:p>
        </p:txBody>
      </p:sp>
      <p:sp>
        <p:nvSpPr>
          <p:cNvPr id="5" name="Text 3"/>
          <p:cNvSpPr txBox="1"/>
          <p:nvPr/>
        </p:nvSpPr>
        <p:spPr>
          <a:xfrm>
            <a:off x="640080" y="1737360"/>
            <a:ext cx="10607040" cy="914400"/>
          </a:xfrm>
          <a:prstGeom prst="rect">
            <a:avLst/>
          </a:prstGeom>
          <a:noFill/>
          <a:ln/>
        </p:spPr>
        <p:txBody>
          <a:bodyPr wrap="square" lIns="0" tIns="0" rIns="0" bIns="0" rtlCol="0" anchor="ctr"/>
          <a:lstStyle/>
          <a:p>
            <a:pPr marL="0" indent="0">
              <a:lnSpc>
                <a:spcPct val="130000"/>
              </a:lnSpc>
              <a:buNone/>
            </a:pPr>
            <a:r>
              <a:rPr lang="en-US" sz="1400" dirty="0">
                <a:solidFill>
                  <a:srgbClr val="C9C4E6"/>
                </a:solidFill>
                <a:latin typeface="Calibri" pitchFamily="34" charset="0"/>
                <a:ea typeface="Calibri" pitchFamily="34" charset="-122"/>
                <a:cs typeface="Calibri" pitchFamily="34" charset="-120"/>
              </a:rPr>
              <a:t>Food delivery platforms process thousands of orders every day across multiple cities, restaurant types and traffic conditions. Delays, driver unassignment and order cancellations directly hurt customer satisfaction, driver earnings and platform revenue — yet the reasons behind them are rarely visible at a glance.</a:t>
            </a:r>
            <a:endParaRPr lang="en-US" sz="1400" dirty="0"/>
          </a:p>
        </p:txBody>
      </p:sp>
      <p:sp>
        <p:nvSpPr>
          <p:cNvPr id="6" name="Shape 4"/>
          <p:cNvSpPr/>
          <p:nvPr/>
        </p:nvSpPr>
        <p:spPr>
          <a:xfrm>
            <a:off x="640080" y="2880360"/>
            <a:ext cx="2542032" cy="2880360"/>
          </a:xfrm>
          <a:prstGeom prst="roundRect">
            <a:avLst>
              <a:gd name="adj" fmla="val 3237"/>
            </a:avLst>
          </a:prstGeom>
          <a:solidFill>
            <a:srgbClr val="2A1D52"/>
          </a:solidFill>
          <a:ln/>
        </p:spPr>
      </p:sp>
      <p:sp>
        <p:nvSpPr>
          <p:cNvPr id="7" name="Shape 5"/>
          <p:cNvSpPr/>
          <p:nvPr/>
        </p:nvSpPr>
        <p:spPr>
          <a:xfrm>
            <a:off x="896112" y="3154680"/>
            <a:ext cx="685800" cy="685800"/>
          </a:xfrm>
          <a:prstGeom prst="ellipse">
            <a:avLst/>
          </a:prstGeom>
          <a:solidFill>
            <a:srgbClr val="FF6B35"/>
          </a:solidFill>
          <a:ln/>
        </p:spPr>
      </p:sp>
      <p:pic>
        <p:nvPicPr>
          <p:cNvPr id="8" name="Image 0" descr="/home/claude/icons/map.png"/>
          <p:cNvPicPr>
            <a:picLocks noChangeAspect="1"/>
          </p:cNvPicPr>
          <p:nvPr/>
        </p:nvPicPr>
        <p:blipFill>
          <a:blip r:embed="rId3"/>
          <a:stretch>
            <a:fillRect/>
          </a:stretch>
        </p:blipFill>
        <p:spPr>
          <a:xfrm>
            <a:off x="1074420" y="3332988"/>
            <a:ext cx="329184" cy="329184"/>
          </a:xfrm>
          <a:prstGeom prst="rect">
            <a:avLst/>
          </a:prstGeom>
        </p:spPr>
      </p:pic>
      <p:sp>
        <p:nvSpPr>
          <p:cNvPr id="9" name="Text 6"/>
          <p:cNvSpPr txBox="1"/>
          <p:nvPr/>
        </p:nvSpPr>
        <p:spPr>
          <a:xfrm>
            <a:off x="896112" y="4023360"/>
            <a:ext cx="2029968" cy="685800"/>
          </a:xfrm>
          <a:prstGeom prst="rect">
            <a:avLst/>
          </a:prstGeom>
          <a:noFill/>
          <a:ln/>
        </p:spPr>
        <p:txBody>
          <a:bodyPr wrap="square" lIns="0" tIns="0" rIns="0" bIns="0" rtlCol="0" anchor="ctr"/>
          <a:lstStyle/>
          <a:p>
            <a:pPr marL="0" indent="0">
              <a:lnSpc>
                <a:spcPct val="110000"/>
              </a:lnSpc>
              <a:buNone/>
            </a:pPr>
            <a:r>
              <a:rPr lang="en-US" sz="1500" b="1" dirty="0">
                <a:solidFill>
                  <a:srgbClr val="FFFFFF"/>
                </a:solidFill>
                <a:latin typeface="Calibri" pitchFamily="34" charset="0"/>
                <a:ea typeface="Calibri" pitchFamily="34" charset="-122"/>
                <a:cs typeface="Calibri" pitchFamily="34" charset="-120"/>
              </a:rPr>
              <a:t>Map order &amp; revenue trends</a:t>
            </a:r>
            <a:endParaRPr lang="en-US" sz="1500" dirty="0"/>
          </a:p>
        </p:txBody>
      </p:sp>
      <p:sp>
        <p:nvSpPr>
          <p:cNvPr id="10" name="Text 7"/>
          <p:cNvSpPr txBox="1"/>
          <p:nvPr/>
        </p:nvSpPr>
        <p:spPr>
          <a:xfrm>
            <a:off x="896112" y="4727448"/>
            <a:ext cx="2029968" cy="914400"/>
          </a:xfrm>
          <a:prstGeom prst="rect">
            <a:avLst/>
          </a:prstGeom>
          <a:noFill/>
          <a:ln/>
        </p:spPr>
        <p:txBody>
          <a:bodyPr wrap="square" lIns="0" tIns="0" rIns="0" bIns="0" rtlCol="0" anchor="ctr"/>
          <a:lstStyle/>
          <a:p>
            <a:pPr marL="0" indent="0">
              <a:lnSpc>
                <a:spcPct val="125000"/>
              </a:lnSpc>
              <a:buNone/>
            </a:pPr>
            <a:r>
              <a:rPr lang="en-US" sz="1100" dirty="0">
                <a:solidFill>
                  <a:srgbClr val="9B93C9"/>
                </a:solidFill>
                <a:latin typeface="Calibri" pitchFamily="34" charset="0"/>
                <a:ea typeface="Calibri" pitchFamily="34" charset="-122"/>
                <a:cs typeface="Calibri" pitchFamily="34" charset="-120"/>
              </a:rPr>
              <a:t>Across 4 cities, restaurant types and customer segments</a:t>
            </a:r>
            <a:endParaRPr lang="en-US" sz="1100" dirty="0"/>
          </a:p>
        </p:txBody>
      </p:sp>
      <p:sp>
        <p:nvSpPr>
          <p:cNvPr id="11" name="Shape 8"/>
          <p:cNvSpPr/>
          <p:nvPr/>
        </p:nvSpPr>
        <p:spPr>
          <a:xfrm>
            <a:off x="3401568" y="2880360"/>
            <a:ext cx="2542032" cy="2880360"/>
          </a:xfrm>
          <a:prstGeom prst="roundRect">
            <a:avLst>
              <a:gd name="adj" fmla="val 3237"/>
            </a:avLst>
          </a:prstGeom>
          <a:solidFill>
            <a:srgbClr val="2A1D52"/>
          </a:solidFill>
          <a:ln/>
        </p:spPr>
      </p:sp>
      <p:sp>
        <p:nvSpPr>
          <p:cNvPr id="12" name="Shape 9"/>
          <p:cNvSpPr/>
          <p:nvPr/>
        </p:nvSpPr>
        <p:spPr>
          <a:xfrm>
            <a:off x="3657600" y="3154680"/>
            <a:ext cx="685800" cy="685800"/>
          </a:xfrm>
          <a:prstGeom prst="ellipse">
            <a:avLst/>
          </a:prstGeom>
          <a:solidFill>
            <a:srgbClr val="FF6B35"/>
          </a:solidFill>
          <a:ln/>
        </p:spPr>
      </p:sp>
      <p:pic>
        <p:nvPicPr>
          <p:cNvPr id="13" name="Image 1" descr="/home/claude/icons/clock.png"/>
          <p:cNvPicPr>
            <a:picLocks noChangeAspect="1"/>
          </p:cNvPicPr>
          <p:nvPr/>
        </p:nvPicPr>
        <p:blipFill>
          <a:blip r:embed="rId4"/>
          <a:stretch>
            <a:fillRect/>
          </a:stretch>
        </p:blipFill>
        <p:spPr>
          <a:xfrm>
            <a:off x="3835908" y="3332988"/>
            <a:ext cx="329184" cy="329184"/>
          </a:xfrm>
          <a:prstGeom prst="rect">
            <a:avLst/>
          </a:prstGeom>
        </p:spPr>
      </p:pic>
      <p:sp>
        <p:nvSpPr>
          <p:cNvPr id="14" name="Text 10"/>
          <p:cNvSpPr txBox="1"/>
          <p:nvPr/>
        </p:nvSpPr>
        <p:spPr>
          <a:xfrm>
            <a:off x="3657600" y="4023360"/>
            <a:ext cx="2029968" cy="685800"/>
          </a:xfrm>
          <a:prstGeom prst="rect">
            <a:avLst/>
          </a:prstGeom>
          <a:noFill/>
          <a:ln/>
        </p:spPr>
        <p:txBody>
          <a:bodyPr wrap="square" lIns="0" tIns="0" rIns="0" bIns="0" rtlCol="0" anchor="ctr"/>
          <a:lstStyle/>
          <a:p>
            <a:pPr marL="0" indent="0">
              <a:lnSpc>
                <a:spcPct val="110000"/>
              </a:lnSpc>
              <a:buNone/>
            </a:pPr>
            <a:r>
              <a:rPr lang="en-US" sz="1500" b="1" dirty="0">
                <a:solidFill>
                  <a:srgbClr val="FFFFFF"/>
                </a:solidFill>
                <a:latin typeface="Calibri" pitchFamily="34" charset="0"/>
                <a:ea typeface="Calibri" pitchFamily="34" charset="-122"/>
                <a:cs typeface="Calibri" pitchFamily="34" charset="-120"/>
              </a:rPr>
              <a:t>Diagnose delivery delays</a:t>
            </a:r>
            <a:endParaRPr lang="en-US" sz="1500" dirty="0"/>
          </a:p>
        </p:txBody>
      </p:sp>
      <p:sp>
        <p:nvSpPr>
          <p:cNvPr id="15" name="Text 11"/>
          <p:cNvSpPr txBox="1"/>
          <p:nvPr/>
        </p:nvSpPr>
        <p:spPr>
          <a:xfrm>
            <a:off x="3657600" y="4727448"/>
            <a:ext cx="2029968" cy="914400"/>
          </a:xfrm>
          <a:prstGeom prst="rect">
            <a:avLst/>
          </a:prstGeom>
          <a:noFill/>
          <a:ln/>
        </p:spPr>
        <p:txBody>
          <a:bodyPr wrap="square" lIns="0" tIns="0" rIns="0" bIns="0" rtlCol="0" anchor="ctr"/>
          <a:lstStyle/>
          <a:p>
            <a:pPr marL="0" indent="0">
              <a:lnSpc>
                <a:spcPct val="125000"/>
              </a:lnSpc>
              <a:buNone/>
            </a:pPr>
            <a:r>
              <a:rPr lang="en-US" sz="1100" dirty="0">
                <a:solidFill>
                  <a:srgbClr val="9B93C9"/>
                </a:solidFill>
                <a:latin typeface="Calibri" pitchFamily="34" charset="0"/>
                <a:ea typeface="Calibri" pitchFamily="34" charset="-122"/>
                <a:cs typeface="Calibri" pitchFamily="34" charset="-120"/>
              </a:rPr>
              <a:t>Compare estimated vs. actual delivery time and traffic impact</a:t>
            </a:r>
            <a:endParaRPr lang="en-US" sz="1100" dirty="0"/>
          </a:p>
        </p:txBody>
      </p:sp>
      <p:sp>
        <p:nvSpPr>
          <p:cNvPr id="16" name="Shape 12"/>
          <p:cNvSpPr/>
          <p:nvPr/>
        </p:nvSpPr>
        <p:spPr>
          <a:xfrm>
            <a:off x="6163056" y="2880360"/>
            <a:ext cx="2542032" cy="2880360"/>
          </a:xfrm>
          <a:prstGeom prst="roundRect">
            <a:avLst>
              <a:gd name="adj" fmla="val 3237"/>
            </a:avLst>
          </a:prstGeom>
          <a:solidFill>
            <a:srgbClr val="2A1D52"/>
          </a:solidFill>
          <a:ln/>
        </p:spPr>
      </p:sp>
      <p:sp>
        <p:nvSpPr>
          <p:cNvPr id="17" name="Shape 13"/>
          <p:cNvSpPr/>
          <p:nvPr/>
        </p:nvSpPr>
        <p:spPr>
          <a:xfrm>
            <a:off x="6419088" y="3154680"/>
            <a:ext cx="685800" cy="685800"/>
          </a:xfrm>
          <a:prstGeom prst="ellipse">
            <a:avLst/>
          </a:prstGeom>
          <a:solidFill>
            <a:srgbClr val="FF6B35"/>
          </a:solidFill>
          <a:ln/>
        </p:spPr>
      </p:sp>
      <p:pic>
        <p:nvPicPr>
          <p:cNvPr id="18" name="Image 2" descr="/home/claude/icons/ban.png"/>
          <p:cNvPicPr>
            <a:picLocks noChangeAspect="1"/>
          </p:cNvPicPr>
          <p:nvPr/>
        </p:nvPicPr>
        <p:blipFill>
          <a:blip r:embed="rId5"/>
          <a:stretch>
            <a:fillRect/>
          </a:stretch>
        </p:blipFill>
        <p:spPr>
          <a:xfrm>
            <a:off x="6597396" y="3332988"/>
            <a:ext cx="329184" cy="329184"/>
          </a:xfrm>
          <a:prstGeom prst="rect">
            <a:avLst/>
          </a:prstGeom>
        </p:spPr>
      </p:pic>
      <p:sp>
        <p:nvSpPr>
          <p:cNvPr id="19" name="Text 14"/>
          <p:cNvSpPr txBox="1"/>
          <p:nvPr/>
        </p:nvSpPr>
        <p:spPr>
          <a:xfrm>
            <a:off x="6419088" y="4023360"/>
            <a:ext cx="2029968" cy="685800"/>
          </a:xfrm>
          <a:prstGeom prst="rect">
            <a:avLst/>
          </a:prstGeom>
          <a:noFill/>
          <a:ln/>
        </p:spPr>
        <p:txBody>
          <a:bodyPr wrap="square" lIns="0" tIns="0" rIns="0" bIns="0" rtlCol="0" anchor="ctr"/>
          <a:lstStyle/>
          <a:p>
            <a:pPr marL="0" indent="0">
              <a:lnSpc>
                <a:spcPct val="110000"/>
              </a:lnSpc>
              <a:buNone/>
            </a:pPr>
            <a:r>
              <a:rPr lang="en-US" sz="1500" b="1" dirty="0">
                <a:solidFill>
                  <a:srgbClr val="FFFFFF"/>
                </a:solidFill>
                <a:latin typeface="Calibri" pitchFamily="34" charset="0"/>
                <a:ea typeface="Calibri" pitchFamily="34" charset="-122"/>
                <a:cs typeface="Calibri" pitchFamily="34" charset="-120"/>
              </a:rPr>
              <a:t>Understand cancellations</a:t>
            </a:r>
            <a:endParaRPr lang="en-US" sz="1500" dirty="0"/>
          </a:p>
        </p:txBody>
      </p:sp>
      <p:sp>
        <p:nvSpPr>
          <p:cNvPr id="20" name="Text 15"/>
          <p:cNvSpPr txBox="1"/>
          <p:nvPr/>
        </p:nvSpPr>
        <p:spPr>
          <a:xfrm>
            <a:off x="6419088" y="4727448"/>
            <a:ext cx="2029968" cy="914400"/>
          </a:xfrm>
          <a:prstGeom prst="rect">
            <a:avLst/>
          </a:prstGeom>
          <a:noFill/>
          <a:ln/>
        </p:spPr>
        <p:txBody>
          <a:bodyPr wrap="square" lIns="0" tIns="0" rIns="0" bIns="0" rtlCol="0" anchor="ctr"/>
          <a:lstStyle/>
          <a:p>
            <a:pPr marL="0" indent="0">
              <a:lnSpc>
                <a:spcPct val="125000"/>
              </a:lnSpc>
              <a:buNone/>
            </a:pPr>
            <a:r>
              <a:rPr lang="en-US" sz="1100" dirty="0">
                <a:solidFill>
                  <a:srgbClr val="9B93C9"/>
                </a:solidFill>
                <a:latin typeface="Calibri" pitchFamily="34" charset="0"/>
                <a:ea typeface="Calibri" pitchFamily="34" charset="-122"/>
                <a:cs typeface="Calibri" pitchFamily="34" charset="-120"/>
              </a:rPr>
              <a:t>Identify the leading causes behind cancelled orders</a:t>
            </a:r>
            <a:endParaRPr lang="en-US" sz="1100" dirty="0"/>
          </a:p>
        </p:txBody>
      </p:sp>
      <p:sp>
        <p:nvSpPr>
          <p:cNvPr id="21" name="Shape 16"/>
          <p:cNvSpPr/>
          <p:nvPr/>
        </p:nvSpPr>
        <p:spPr>
          <a:xfrm>
            <a:off x="8924544" y="2880360"/>
            <a:ext cx="2542032" cy="2880360"/>
          </a:xfrm>
          <a:prstGeom prst="roundRect">
            <a:avLst>
              <a:gd name="adj" fmla="val 3237"/>
            </a:avLst>
          </a:prstGeom>
          <a:solidFill>
            <a:srgbClr val="2A1D52"/>
          </a:solidFill>
          <a:ln/>
        </p:spPr>
      </p:sp>
      <p:sp>
        <p:nvSpPr>
          <p:cNvPr id="22" name="Shape 17"/>
          <p:cNvSpPr/>
          <p:nvPr/>
        </p:nvSpPr>
        <p:spPr>
          <a:xfrm>
            <a:off x="9180576" y="3154680"/>
            <a:ext cx="685800" cy="685800"/>
          </a:xfrm>
          <a:prstGeom prst="ellipse">
            <a:avLst/>
          </a:prstGeom>
          <a:solidFill>
            <a:srgbClr val="FF6B35"/>
          </a:solidFill>
          <a:ln/>
        </p:spPr>
      </p:sp>
      <p:pic>
        <p:nvPicPr>
          <p:cNvPr id="23" name="Image 3" descr="/home/claude/icons/dashboard.png"/>
          <p:cNvPicPr>
            <a:picLocks noChangeAspect="1"/>
          </p:cNvPicPr>
          <p:nvPr/>
        </p:nvPicPr>
        <p:blipFill>
          <a:blip r:embed="rId6"/>
          <a:stretch>
            <a:fillRect/>
          </a:stretch>
        </p:blipFill>
        <p:spPr>
          <a:xfrm>
            <a:off x="9358884" y="3332988"/>
            <a:ext cx="329184" cy="329184"/>
          </a:xfrm>
          <a:prstGeom prst="rect">
            <a:avLst/>
          </a:prstGeom>
        </p:spPr>
      </p:pic>
      <p:sp>
        <p:nvSpPr>
          <p:cNvPr id="24" name="Text 18"/>
          <p:cNvSpPr txBox="1"/>
          <p:nvPr/>
        </p:nvSpPr>
        <p:spPr>
          <a:xfrm>
            <a:off x="9180576" y="4023360"/>
            <a:ext cx="2029968" cy="685800"/>
          </a:xfrm>
          <a:prstGeom prst="rect">
            <a:avLst/>
          </a:prstGeom>
          <a:noFill/>
          <a:ln/>
        </p:spPr>
        <p:txBody>
          <a:bodyPr wrap="square" lIns="0" tIns="0" rIns="0" bIns="0" rtlCol="0" anchor="ctr"/>
          <a:lstStyle/>
          <a:p>
            <a:pPr marL="0" indent="0">
              <a:lnSpc>
                <a:spcPct val="110000"/>
              </a:lnSpc>
              <a:buNone/>
            </a:pPr>
            <a:r>
              <a:rPr lang="en-US" sz="1500" b="1" dirty="0">
                <a:solidFill>
                  <a:srgbClr val="FFFFFF"/>
                </a:solidFill>
                <a:latin typeface="Calibri" pitchFamily="34" charset="0"/>
                <a:ea typeface="Calibri" pitchFamily="34" charset="-122"/>
                <a:cs typeface="Calibri" pitchFamily="34" charset="-120"/>
              </a:rPr>
              <a:t>Build a live dashboard</a:t>
            </a:r>
            <a:endParaRPr lang="en-US" sz="1500" dirty="0"/>
          </a:p>
        </p:txBody>
      </p:sp>
      <p:sp>
        <p:nvSpPr>
          <p:cNvPr id="25" name="Text 19"/>
          <p:cNvSpPr txBox="1"/>
          <p:nvPr/>
        </p:nvSpPr>
        <p:spPr>
          <a:xfrm>
            <a:off x="9180576" y="4727448"/>
            <a:ext cx="2029968" cy="914400"/>
          </a:xfrm>
          <a:prstGeom prst="rect">
            <a:avLst/>
          </a:prstGeom>
          <a:noFill/>
          <a:ln/>
        </p:spPr>
        <p:txBody>
          <a:bodyPr wrap="square" lIns="0" tIns="0" rIns="0" bIns="0" rtlCol="0" anchor="ctr"/>
          <a:lstStyle/>
          <a:p>
            <a:pPr marL="0" indent="0">
              <a:lnSpc>
                <a:spcPct val="125000"/>
              </a:lnSpc>
              <a:buNone/>
            </a:pPr>
            <a:r>
              <a:rPr lang="en-US" sz="1100" dirty="0">
                <a:solidFill>
                  <a:srgbClr val="9B93C9"/>
                </a:solidFill>
                <a:latin typeface="Calibri" pitchFamily="34" charset="0"/>
                <a:ea typeface="Calibri" pitchFamily="34" charset="-122"/>
                <a:cs typeface="Calibri" pitchFamily="34" charset="-120"/>
              </a:rPr>
              <a:t>Give stakeholders a single view to monitor performance</a:t>
            </a:r>
            <a:endParaRPr lang="en-US" sz="1100" dirty="0"/>
          </a:p>
        </p:txBody>
      </p:sp>
      <p:sp>
        <p:nvSpPr>
          <p:cNvPr id="26" name="Text 20"/>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kern="0" spc="100" dirty="0">
                <a:solidFill>
                  <a:srgbClr val="A79FD6"/>
                </a:solidFill>
                <a:latin typeface="Calibri" pitchFamily="34" charset="0"/>
                <a:ea typeface="Calibri" pitchFamily="34" charset="-122"/>
                <a:cs typeface="Calibri" pitchFamily="34" charset="-120"/>
              </a:rPr>
              <a:t>FOOD DELIVERY ORDER &amp; DELIVERY PERFORMANCE ANALYSIS</a:t>
            </a:r>
            <a:endParaRPr lang="en-US" sz="900" dirty="0"/>
          </a:p>
        </p:txBody>
      </p:sp>
      <p:sp>
        <p:nvSpPr>
          <p:cNvPr id="27" name="Text 21"/>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A79FD6"/>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B"/>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10058400" cy="548640"/>
          </a:xfrm>
          <a:prstGeom prst="rect">
            <a:avLst/>
          </a:prstGeom>
          <a:noFill/>
          <a:ln/>
        </p:spPr>
        <p:txBody>
          <a:bodyPr wrap="square" lIns="0" tIns="0" rIns="0" bIns="0" rtlCol="0" anchor="ctr"/>
          <a:lstStyle/>
          <a:p>
            <a:pPr marL="0" indent="0">
              <a:buNone/>
            </a:pPr>
            <a:r>
              <a:rPr lang="en-US" sz="3000" b="1" dirty="0">
                <a:solidFill>
                  <a:srgbClr val="221A3D"/>
                </a:solidFill>
                <a:latin typeface="Cambria" pitchFamily="34" charset="0"/>
                <a:ea typeface="Cambria" pitchFamily="34" charset="-122"/>
                <a:cs typeface="Cambria" pitchFamily="34" charset="-120"/>
              </a:rPr>
              <a:t>Dataset Overview &amp; Data Cleaning</a:t>
            </a:r>
            <a:endParaRPr lang="en-US" sz="3000" dirty="0"/>
          </a:p>
        </p:txBody>
      </p:sp>
      <p:sp>
        <p:nvSpPr>
          <p:cNvPr id="3" name="Text 1"/>
          <p:cNvSpPr txBox="1"/>
          <p:nvPr/>
        </p:nvSpPr>
        <p:spPr>
          <a:xfrm>
            <a:off x="640080" y="1024128"/>
            <a:ext cx="9144000" cy="365760"/>
          </a:xfrm>
          <a:prstGeom prst="rect">
            <a:avLst/>
          </a:prstGeom>
          <a:noFill/>
          <a:ln/>
        </p:spPr>
        <p:txBody>
          <a:bodyPr wrap="square" lIns="0" tIns="0" rIns="0" bIns="0" rtlCol="0" anchor="ctr"/>
          <a:lstStyle/>
          <a:p>
            <a:pPr marL="0" indent="0">
              <a:buNone/>
            </a:pPr>
            <a:r>
              <a:rPr lang="en-US" sz="1400" i="1" dirty="0">
                <a:solidFill>
                  <a:srgbClr val="746F92"/>
                </a:solidFill>
                <a:latin typeface="Calibri" pitchFamily="34" charset="0"/>
                <a:ea typeface="Calibri" pitchFamily="34" charset="-122"/>
                <a:cs typeface="Calibri" pitchFamily="34" charset="-120"/>
              </a:rPr>
              <a:t>cleaned_dataset.csv — one row per food delivery order</a:t>
            </a:r>
            <a:endParaRPr lang="en-US" sz="1400" dirty="0"/>
          </a:p>
        </p:txBody>
      </p:sp>
      <p:sp>
        <p:nvSpPr>
          <p:cNvPr id="4" name="Shape 2"/>
          <p:cNvSpPr/>
          <p:nvPr/>
        </p:nvSpPr>
        <p:spPr>
          <a:xfrm>
            <a:off x="640080" y="1691640"/>
            <a:ext cx="2395728" cy="960120"/>
          </a:xfrm>
          <a:prstGeom prst="roundRect">
            <a:avLst>
              <a:gd name="adj" fmla="val 7619"/>
            </a:avLst>
          </a:prstGeom>
          <a:solidFill>
            <a:srgbClr val="FFFFFF"/>
          </a:solidFill>
          <a:ln w="12700">
            <a:solidFill>
              <a:srgbClr val="E7E4F2"/>
            </a:solidFill>
            <a:prstDash val="solid"/>
          </a:ln>
        </p:spPr>
      </p:sp>
      <p:sp>
        <p:nvSpPr>
          <p:cNvPr id="5" name="Shape 3"/>
          <p:cNvSpPr/>
          <p:nvPr/>
        </p:nvSpPr>
        <p:spPr>
          <a:xfrm>
            <a:off x="640080" y="1691640"/>
            <a:ext cx="73152" cy="960120"/>
          </a:xfrm>
          <a:prstGeom prst="roundRect">
            <a:avLst/>
          </a:prstGeom>
          <a:solidFill>
            <a:srgbClr val="FFFFFF"/>
          </a:solidFill>
          <a:ln/>
        </p:spPr>
      </p:sp>
      <p:sp>
        <p:nvSpPr>
          <p:cNvPr id="6" name="Text 4"/>
          <p:cNvSpPr txBox="1"/>
          <p:nvPr/>
        </p:nvSpPr>
        <p:spPr>
          <a:xfrm>
            <a:off x="841248" y="1801368"/>
            <a:ext cx="2029968" cy="548640"/>
          </a:xfrm>
          <a:prstGeom prst="rect">
            <a:avLst/>
          </a:prstGeom>
          <a:noFill/>
          <a:ln/>
        </p:spPr>
        <p:txBody>
          <a:bodyPr wrap="square" lIns="0" tIns="0" rIns="0" bIns="0" rtlCol="0" anchor="ctr"/>
          <a:lstStyle/>
          <a:p>
            <a:pPr marL="0" indent="0">
              <a:buNone/>
            </a:pPr>
            <a:r>
              <a:rPr lang="en-US" sz="2500" b="1" dirty="0">
                <a:solidFill>
                  <a:srgbClr val="FF6B35"/>
                </a:solidFill>
                <a:latin typeface="Cambria" pitchFamily="34" charset="0"/>
                <a:ea typeface="Cambria" pitchFamily="34" charset="-122"/>
                <a:cs typeface="Cambria" pitchFamily="34" charset="-120"/>
              </a:rPr>
              <a:t>50,000</a:t>
            </a:r>
            <a:endParaRPr lang="en-US" sz="2500" dirty="0"/>
          </a:p>
        </p:txBody>
      </p:sp>
      <p:sp>
        <p:nvSpPr>
          <p:cNvPr id="7" name="Text 5"/>
          <p:cNvSpPr txBox="1"/>
          <p:nvPr/>
        </p:nvSpPr>
        <p:spPr>
          <a:xfrm>
            <a:off x="841248" y="2350008"/>
            <a:ext cx="2029968" cy="320040"/>
          </a:xfrm>
          <a:prstGeom prst="rect">
            <a:avLst/>
          </a:prstGeom>
          <a:noFill/>
          <a:ln/>
        </p:spPr>
        <p:txBody>
          <a:bodyPr wrap="square" lIns="0" tIns="0" rIns="0" bIns="0" rtlCol="0" anchor="ctr"/>
          <a:lstStyle/>
          <a:p>
            <a:pPr marL="0" indent="0">
              <a:buNone/>
            </a:pPr>
            <a:r>
              <a:rPr lang="en-US" sz="1050" kern="0" spc="100" dirty="0">
                <a:solidFill>
                  <a:srgbClr val="746F92"/>
                </a:solidFill>
                <a:latin typeface="Calibri" pitchFamily="34" charset="0"/>
                <a:ea typeface="Calibri" pitchFamily="34" charset="-122"/>
                <a:cs typeface="Calibri" pitchFamily="34" charset="-120"/>
              </a:rPr>
              <a:t>ORDERS</a:t>
            </a:r>
            <a:endParaRPr lang="en-US" sz="1050" dirty="0"/>
          </a:p>
        </p:txBody>
      </p:sp>
      <p:sp>
        <p:nvSpPr>
          <p:cNvPr id="8" name="Shape 6"/>
          <p:cNvSpPr/>
          <p:nvPr/>
        </p:nvSpPr>
        <p:spPr>
          <a:xfrm>
            <a:off x="640080" y="2788920"/>
            <a:ext cx="2395728" cy="960120"/>
          </a:xfrm>
          <a:prstGeom prst="roundRect">
            <a:avLst>
              <a:gd name="adj" fmla="val 7619"/>
            </a:avLst>
          </a:prstGeom>
          <a:solidFill>
            <a:srgbClr val="FFFFFF"/>
          </a:solidFill>
          <a:ln w="12700">
            <a:solidFill>
              <a:srgbClr val="E7E4F2"/>
            </a:solidFill>
            <a:prstDash val="solid"/>
          </a:ln>
        </p:spPr>
      </p:sp>
      <p:sp>
        <p:nvSpPr>
          <p:cNvPr id="9" name="Shape 7"/>
          <p:cNvSpPr/>
          <p:nvPr/>
        </p:nvSpPr>
        <p:spPr>
          <a:xfrm>
            <a:off x="640080" y="2788920"/>
            <a:ext cx="73152" cy="960120"/>
          </a:xfrm>
          <a:prstGeom prst="roundRect">
            <a:avLst/>
          </a:prstGeom>
          <a:solidFill>
            <a:srgbClr val="FFFFFF"/>
          </a:solidFill>
          <a:ln/>
        </p:spPr>
      </p:sp>
      <p:sp>
        <p:nvSpPr>
          <p:cNvPr id="10" name="Text 8"/>
          <p:cNvSpPr txBox="1"/>
          <p:nvPr/>
        </p:nvSpPr>
        <p:spPr>
          <a:xfrm>
            <a:off x="841248" y="2898648"/>
            <a:ext cx="2029968" cy="548640"/>
          </a:xfrm>
          <a:prstGeom prst="rect">
            <a:avLst/>
          </a:prstGeom>
          <a:noFill/>
          <a:ln/>
        </p:spPr>
        <p:txBody>
          <a:bodyPr wrap="square" lIns="0" tIns="0" rIns="0" bIns="0" rtlCol="0" anchor="ctr"/>
          <a:lstStyle/>
          <a:p>
            <a:pPr marL="0" indent="0">
              <a:buNone/>
            </a:pPr>
            <a:r>
              <a:rPr lang="en-US" sz="2500" b="1" dirty="0">
                <a:solidFill>
                  <a:srgbClr val="2EC4B6"/>
                </a:solidFill>
                <a:latin typeface="Cambria" pitchFamily="34" charset="0"/>
                <a:ea typeface="Cambria" pitchFamily="34" charset="-122"/>
                <a:cs typeface="Cambria" pitchFamily="34" charset="-120"/>
              </a:rPr>
              <a:t>37</a:t>
            </a:r>
            <a:endParaRPr lang="en-US" sz="2500" dirty="0"/>
          </a:p>
        </p:txBody>
      </p:sp>
      <p:sp>
        <p:nvSpPr>
          <p:cNvPr id="11" name="Text 9"/>
          <p:cNvSpPr txBox="1"/>
          <p:nvPr/>
        </p:nvSpPr>
        <p:spPr>
          <a:xfrm>
            <a:off x="841248" y="3447288"/>
            <a:ext cx="2029968" cy="320040"/>
          </a:xfrm>
          <a:prstGeom prst="rect">
            <a:avLst/>
          </a:prstGeom>
          <a:noFill/>
          <a:ln/>
        </p:spPr>
        <p:txBody>
          <a:bodyPr wrap="square" lIns="0" tIns="0" rIns="0" bIns="0" rtlCol="0" anchor="ctr"/>
          <a:lstStyle/>
          <a:p>
            <a:pPr marL="0" indent="0">
              <a:buNone/>
            </a:pPr>
            <a:r>
              <a:rPr lang="en-US" sz="1050" kern="0" spc="100" dirty="0">
                <a:solidFill>
                  <a:srgbClr val="746F92"/>
                </a:solidFill>
                <a:latin typeface="Calibri" pitchFamily="34" charset="0"/>
                <a:ea typeface="Calibri" pitchFamily="34" charset="-122"/>
                <a:cs typeface="Calibri" pitchFamily="34" charset="-120"/>
              </a:rPr>
              <a:t>DATA FIELDS</a:t>
            </a:r>
            <a:endParaRPr lang="en-US" sz="1050" dirty="0"/>
          </a:p>
        </p:txBody>
      </p:sp>
      <p:sp>
        <p:nvSpPr>
          <p:cNvPr id="12" name="Shape 10"/>
          <p:cNvSpPr/>
          <p:nvPr/>
        </p:nvSpPr>
        <p:spPr>
          <a:xfrm>
            <a:off x="640080" y="3886200"/>
            <a:ext cx="2395728" cy="960120"/>
          </a:xfrm>
          <a:prstGeom prst="roundRect">
            <a:avLst>
              <a:gd name="adj" fmla="val 7619"/>
            </a:avLst>
          </a:prstGeom>
          <a:solidFill>
            <a:srgbClr val="FFFFFF"/>
          </a:solidFill>
          <a:ln w="12700">
            <a:solidFill>
              <a:srgbClr val="E7E4F2"/>
            </a:solidFill>
            <a:prstDash val="solid"/>
          </a:ln>
        </p:spPr>
      </p:sp>
      <p:sp>
        <p:nvSpPr>
          <p:cNvPr id="13" name="Shape 11"/>
          <p:cNvSpPr/>
          <p:nvPr/>
        </p:nvSpPr>
        <p:spPr>
          <a:xfrm>
            <a:off x="640080" y="3886200"/>
            <a:ext cx="73152" cy="960120"/>
          </a:xfrm>
          <a:prstGeom prst="roundRect">
            <a:avLst/>
          </a:prstGeom>
          <a:solidFill>
            <a:srgbClr val="FFFFFF"/>
          </a:solidFill>
          <a:ln/>
        </p:spPr>
      </p:sp>
      <p:sp>
        <p:nvSpPr>
          <p:cNvPr id="14" name="Text 12"/>
          <p:cNvSpPr txBox="1"/>
          <p:nvPr/>
        </p:nvSpPr>
        <p:spPr>
          <a:xfrm>
            <a:off x="841248" y="3995928"/>
            <a:ext cx="2029968" cy="548640"/>
          </a:xfrm>
          <a:prstGeom prst="rect">
            <a:avLst/>
          </a:prstGeom>
          <a:noFill/>
          <a:ln/>
        </p:spPr>
        <p:txBody>
          <a:bodyPr wrap="square" lIns="0" tIns="0" rIns="0" bIns="0" rtlCol="0" anchor="ctr"/>
          <a:lstStyle/>
          <a:p>
            <a:pPr marL="0" indent="0">
              <a:buNone/>
            </a:pPr>
            <a:r>
              <a:rPr lang="en-US" sz="2500" b="1" dirty="0">
                <a:solidFill>
                  <a:srgbClr val="FF6B35"/>
                </a:solidFill>
                <a:latin typeface="Cambria" pitchFamily="34" charset="0"/>
                <a:ea typeface="Cambria" pitchFamily="34" charset="-122"/>
                <a:cs typeface="Cambria" pitchFamily="34" charset="-120"/>
              </a:rPr>
              <a:t>4</a:t>
            </a:r>
            <a:endParaRPr lang="en-US" sz="2500" dirty="0"/>
          </a:p>
        </p:txBody>
      </p:sp>
      <p:sp>
        <p:nvSpPr>
          <p:cNvPr id="15" name="Text 13"/>
          <p:cNvSpPr txBox="1"/>
          <p:nvPr/>
        </p:nvSpPr>
        <p:spPr>
          <a:xfrm>
            <a:off x="841248" y="4544568"/>
            <a:ext cx="2029968" cy="320040"/>
          </a:xfrm>
          <a:prstGeom prst="rect">
            <a:avLst/>
          </a:prstGeom>
          <a:noFill/>
          <a:ln/>
        </p:spPr>
        <p:txBody>
          <a:bodyPr wrap="square" lIns="0" tIns="0" rIns="0" bIns="0" rtlCol="0" anchor="ctr"/>
          <a:lstStyle/>
          <a:p>
            <a:pPr marL="0" indent="0">
              <a:buNone/>
            </a:pPr>
            <a:r>
              <a:rPr lang="en-US" sz="1050" kern="0" spc="100" dirty="0">
                <a:solidFill>
                  <a:srgbClr val="746F92"/>
                </a:solidFill>
                <a:latin typeface="Calibri" pitchFamily="34" charset="0"/>
                <a:ea typeface="Calibri" pitchFamily="34" charset="-122"/>
                <a:cs typeface="Calibri" pitchFamily="34" charset="-120"/>
              </a:rPr>
              <a:t>CITIES COVERED</a:t>
            </a:r>
            <a:endParaRPr lang="en-US" sz="1050" dirty="0"/>
          </a:p>
        </p:txBody>
      </p:sp>
      <p:sp>
        <p:nvSpPr>
          <p:cNvPr id="16" name="Shape 14"/>
          <p:cNvSpPr/>
          <p:nvPr/>
        </p:nvSpPr>
        <p:spPr>
          <a:xfrm>
            <a:off x="640080" y="4983480"/>
            <a:ext cx="2395728" cy="960120"/>
          </a:xfrm>
          <a:prstGeom prst="roundRect">
            <a:avLst>
              <a:gd name="adj" fmla="val 7619"/>
            </a:avLst>
          </a:prstGeom>
          <a:solidFill>
            <a:srgbClr val="FFFFFF"/>
          </a:solidFill>
          <a:ln w="12700">
            <a:solidFill>
              <a:srgbClr val="E7E4F2"/>
            </a:solidFill>
            <a:prstDash val="solid"/>
          </a:ln>
        </p:spPr>
      </p:sp>
      <p:sp>
        <p:nvSpPr>
          <p:cNvPr id="17" name="Shape 15"/>
          <p:cNvSpPr/>
          <p:nvPr/>
        </p:nvSpPr>
        <p:spPr>
          <a:xfrm>
            <a:off x="640080" y="4983480"/>
            <a:ext cx="73152" cy="960120"/>
          </a:xfrm>
          <a:prstGeom prst="roundRect">
            <a:avLst/>
          </a:prstGeom>
          <a:solidFill>
            <a:srgbClr val="FFFFFF"/>
          </a:solidFill>
          <a:ln/>
        </p:spPr>
      </p:sp>
      <p:sp>
        <p:nvSpPr>
          <p:cNvPr id="18" name="Text 16"/>
          <p:cNvSpPr txBox="1"/>
          <p:nvPr/>
        </p:nvSpPr>
        <p:spPr>
          <a:xfrm>
            <a:off x="841248" y="5093208"/>
            <a:ext cx="2029968" cy="548640"/>
          </a:xfrm>
          <a:prstGeom prst="rect">
            <a:avLst/>
          </a:prstGeom>
          <a:noFill/>
          <a:ln/>
        </p:spPr>
        <p:txBody>
          <a:bodyPr wrap="square" lIns="0" tIns="0" rIns="0" bIns="0" rtlCol="0" anchor="ctr"/>
          <a:lstStyle/>
          <a:p>
            <a:pPr marL="0" indent="0">
              <a:buNone/>
            </a:pPr>
            <a:r>
              <a:rPr lang="en-US" sz="2500" b="1" dirty="0">
                <a:solidFill>
                  <a:srgbClr val="2EC4B6"/>
                </a:solidFill>
                <a:latin typeface="Cambria" pitchFamily="34" charset="0"/>
                <a:ea typeface="Cambria" pitchFamily="34" charset="-122"/>
                <a:cs typeface="Cambria" pitchFamily="34" charset="-120"/>
              </a:rPr>
              <a:t>Oct 2025</a:t>
            </a:r>
            <a:endParaRPr lang="en-US" sz="2500" dirty="0"/>
          </a:p>
        </p:txBody>
      </p:sp>
      <p:sp>
        <p:nvSpPr>
          <p:cNvPr id="19" name="Text 17"/>
          <p:cNvSpPr txBox="1"/>
          <p:nvPr/>
        </p:nvSpPr>
        <p:spPr>
          <a:xfrm>
            <a:off x="841248" y="5641848"/>
            <a:ext cx="2029968" cy="320040"/>
          </a:xfrm>
          <a:prstGeom prst="rect">
            <a:avLst/>
          </a:prstGeom>
          <a:noFill/>
          <a:ln/>
        </p:spPr>
        <p:txBody>
          <a:bodyPr wrap="square" lIns="0" tIns="0" rIns="0" bIns="0" rtlCol="0" anchor="ctr"/>
          <a:lstStyle/>
          <a:p>
            <a:pPr marL="0" indent="0">
              <a:buNone/>
            </a:pPr>
            <a:r>
              <a:rPr lang="en-US" sz="1050" kern="0" spc="100" dirty="0">
                <a:solidFill>
                  <a:srgbClr val="746F92"/>
                </a:solidFill>
                <a:latin typeface="Calibri" pitchFamily="34" charset="0"/>
                <a:ea typeface="Calibri" pitchFamily="34" charset="-122"/>
                <a:cs typeface="Calibri" pitchFamily="34" charset="-120"/>
              </a:rPr>
              <a:t>ORDER PERIOD</a:t>
            </a:r>
            <a:endParaRPr lang="en-US" sz="1050" dirty="0"/>
          </a:p>
        </p:txBody>
      </p:sp>
      <p:sp>
        <p:nvSpPr>
          <p:cNvPr id="20" name="Shape 18"/>
          <p:cNvSpPr/>
          <p:nvPr/>
        </p:nvSpPr>
        <p:spPr>
          <a:xfrm>
            <a:off x="3291840" y="1691640"/>
            <a:ext cx="8275320" cy="2542032"/>
          </a:xfrm>
          <a:prstGeom prst="roundRect">
            <a:avLst>
              <a:gd name="adj" fmla="val 3237"/>
            </a:avLst>
          </a:prstGeom>
          <a:solidFill>
            <a:srgbClr val="FFFFFF"/>
          </a:solidFill>
          <a:ln w="12700">
            <a:solidFill>
              <a:srgbClr val="E7E4F2"/>
            </a:solidFill>
            <a:prstDash val="solid"/>
          </a:ln>
        </p:spPr>
      </p:sp>
      <p:sp>
        <p:nvSpPr>
          <p:cNvPr id="21" name="Text 19"/>
          <p:cNvSpPr txBox="1"/>
          <p:nvPr/>
        </p:nvSpPr>
        <p:spPr>
          <a:xfrm>
            <a:off x="3566160" y="1828800"/>
            <a:ext cx="5486400" cy="320040"/>
          </a:xfrm>
          <a:prstGeom prst="rect">
            <a:avLst/>
          </a:prstGeom>
          <a:noFill/>
          <a:ln/>
        </p:spPr>
        <p:txBody>
          <a:bodyPr wrap="square" lIns="0" tIns="0" rIns="0" bIns="0" rtlCol="0" anchor="ctr"/>
          <a:lstStyle/>
          <a:p>
            <a:pPr marL="0" indent="0">
              <a:buNone/>
            </a:pPr>
            <a:r>
              <a:rPr lang="en-US" sz="1500" b="1" dirty="0">
                <a:solidFill>
                  <a:srgbClr val="221A3D"/>
                </a:solidFill>
                <a:latin typeface="Calibri" pitchFamily="34" charset="0"/>
                <a:ea typeface="Calibri" pitchFamily="34" charset="-122"/>
                <a:cs typeface="Calibri" pitchFamily="34" charset="-120"/>
              </a:rPr>
              <a:t>Key Field Groups</a:t>
            </a:r>
            <a:endParaRPr lang="en-US" sz="1500" dirty="0"/>
          </a:p>
        </p:txBody>
      </p:sp>
      <p:sp>
        <p:nvSpPr>
          <p:cNvPr id="22" name="Text 20"/>
          <p:cNvSpPr txBox="1"/>
          <p:nvPr/>
        </p:nvSpPr>
        <p:spPr>
          <a:xfrm>
            <a:off x="3566160" y="2194560"/>
            <a:ext cx="1188720" cy="256032"/>
          </a:xfrm>
          <a:prstGeom prst="rect">
            <a:avLst/>
          </a:prstGeom>
          <a:noFill/>
          <a:ln/>
        </p:spPr>
        <p:txBody>
          <a:bodyPr wrap="square" lIns="0" tIns="0" rIns="0" bIns="0" rtlCol="0" anchor="ctr"/>
          <a:lstStyle/>
          <a:p>
            <a:pPr marL="0" indent="0">
              <a:buNone/>
            </a:pPr>
            <a:r>
              <a:rPr lang="en-US" sz="1150" b="1" dirty="0">
                <a:solidFill>
                  <a:srgbClr val="FF6B35"/>
                </a:solidFill>
                <a:latin typeface="Calibri" pitchFamily="34" charset="0"/>
                <a:ea typeface="Calibri" pitchFamily="34" charset="-122"/>
                <a:cs typeface="Calibri" pitchFamily="34" charset="-120"/>
              </a:rPr>
              <a:t>Order  </a:t>
            </a:r>
            <a:endParaRPr lang="en-US" sz="1150" dirty="0"/>
          </a:p>
        </p:txBody>
      </p:sp>
      <p:sp>
        <p:nvSpPr>
          <p:cNvPr id="23" name="Text 21"/>
          <p:cNvSpPr txBox="1"/>
          <p:nvPr/>
        </p:nvSpPr>
        <p:spPr>
          <a:xfrm>
            <a:off x="3566160" y="2414016"/>
            <a:ext cx="3840480" cy="329184"/>
          </a:xfrm>
          <a:prstGeom prst="rect">
            <a:avLst/>
          </a:prstGeom>
          <a:noFill/>
          <a:ln/>
        </p:spPr>
        <p:txBody>
          <a:bodyPr wrap="square" lIns="0" tIns="0" rIns="0" bIns="0" rtlCol="0" anchor="ctr"/>
          <a:lstStyle/>
          <a:p>
            <a:pPr marL="0" indent="0">
              <a:lnSpc>
                <a:spcPct val="105000"/>
              </a:lnSpc>
              <a:buNone/>
            </a:pPr>
            <a:r>
              <a:rPr lang="en-US" sz="980" dirty="0">
                <a:solidFill>
                  <a:srgbClr val="746F92"/>
                </a:solidFill>
                <a:latin typeface="Calibri" pitchFamily="34" charset="0"/>
                <a:ea typeface="Calibri" pitchFamily="34" charset="-122"/>
                <a:cs typeface="Calibri" pitchFamily="34" charset="-120"/>
              </a:rPr>
              <a:t>order_id, timestamp, hour, day, weekend flag</a:t>
            </a:r>
            <a:endParaRPr lang="en-US" sz="980" dirty="0"/>
          </a:p>
        </p:txBody>
      </p:sp>
      <p:sp>
        <p:nvSpPr>
          <p:cNvPr id="24" name="Text 22"/>
          <p:cNvSpPr txBox="1"/>
          <p:nvPr/>
        </p:nvSpPr>
        <p:spPr>
          <a:xfrm>
            <a:off x="7589520" y="2194560"/>
            <a:ext cx="1188720" cy="256032"/>
          </a:xfrm>
          <a:prstGeom prst="rect">
            <a:avLst/>
          </a:prstGeom>
          <a:noFill/>
          <a:ln/>
        </p:spPr>
        <p:txBody>
          <a:bodyPr wrap="square" lIns="0" tIns="0" rIns="0" bIns="0" rtlCol="0" anchor="ctr"/>
          <a:lstStyle/>
          <a:p>
            <a:pPr marL="0" indent="0">
              <a:buNone/>
            </a:pPr>
            <a:r>
              <a:rPr lang="en-US" sz="1150" b="1" dirty="0">
                <a:solidFill>
                  <a:srgbClr val="FF6B35"/>
                </a:solidFill>
                <a:latin typeface="Calibri" pitchFamily="34" charset="0"/>
                <a:ea typeface="Calibri" pitchFamily="34" charset="-122"/>
                <a:cs typeface="Calibri" pitchFamily="34" charset="-120"/>
              </a:rPr>
              <a:t>Location  </a:t>
            </a:r>
            <a:endParaRPr lang="en-US" sz="1150" dirty="0"/>
          </a:p>
        </p:txBody>
      </p:sp>
      <p:sp>
        <p:nvSpPr>
          <p:cNvPr id="25" name="Text 23"/>
          <p:cNvSpPr txBox="1"/>
          <p:nvPr/>
        </p:nvSpPr>
        <p:spPr>
          <a:xfrm>
            <a:off x="7589520" y="2414016"/>
            <a:ext cx="3840480" cy="329184"/>
          </a:xfrm>
          <a:prstGeom prst="rect">
            <a:avLst/>
          </a:prstGeom>
          <a:noFill/>
          <a:ln/>
        </p:spPr>
        <p:txBody>
          <a:bodyPr wrap="square" lIns="0" tIns="0" rIns="0" bIns="0" rtlCol="0" anchor="ctr"/>
          <a:lstStyle/>
          <a:p>
            <a:pPr marL="0" indent="0">
              <a:lnSpc>
                <a:spcPct val="105000"/>
              </a:lnSpc>
              <a:buNone/>
            </a:pPr>
            <a:r>
              <a:rPr lang="en-US" sz="980" dirty="0">
                <a:solidFill>
                  <a:srgbClr val="746F92"/>
                </a:solidFill>
                <a:latin typeface="Calibri" pitchFamily="34" charset="0"/>
                <a:ea typeface="Calibri" pitchFamily="34" charset="-122"/>
                <a:cs typeface="Calibri" pitchFamily="34" charset="-120"/>
              </a:rPr>
              <a:t>city, delivery_area, distance_km</a:t>
            </a:r>
            <a:endParaRPr lang="en-US" sz="980" dirty="0"/>
          </a:p>
        </p:txBody>
      </p:sp>
      <p:sp>
        <p:nvSpPr>
          <p:cNvPr id="26" name="Text 24"/>
          <p:cNvSpPr txBox="1"/>
          <p:nvPr/>
        </p:nvSpPr>
        <p:spPr>
          <a:xfrm>
            <a:off x="3566160" y="2816352"/>
            <a:ext cx="1188720" cy="256032"/>
          </a:xfrm>
          <a:prstGeom prst="rect">
            <a:avLst/>
          </a:prstGeom>
          <a:noFill/>
          <a:ln/>
        </p:spPr>
        <p:txBody>
          <a:bodyPr wrap="square" lIns="0" tIns="0" rIns="0" bIns="0" rtlCol="0" anchor="ctr"/>
          <a:lstStyle/>
          <a:p>
            <a:pPr marL="0" indent="0">
              <a:buNone/>
            </a:pPr>
            <a:r>
              <a:rPr lang="en-US" sz="1150" b="1" dirty="0">
                <a:solidFill>
                  <a:srgbClr val="FF6B35"/>
                </a:solidFill>
                <a:latin typeface="Calibri" pitchFamily="34" charset="0"/>
                <a:ea typeface="Calibri" pitchFamily="34" charset="-122"/>
                <a:cs typeface="Calibri" pitchFamily="34" charset="-120"/>
              </a:rPr>
              <a:t>Money  </a:t>
            </a:r>
            <a:endParaRPr lang="en-US" sz="1150" dirty="0"/>
          </a:p>
        </p:txBody>
      </p:sp>
      <p:sp>
        <p:nvSpPr>
          <p:cNvPr id="27" name="Text 25"/>
          <p:cNvSpPr txBox="1"/>
          <p:nvPr/>
        </p:nvSpPr>
        <p:spPr>
          <a:xfrm>
            <a:off x="3566160" y="3035808"/>
            <a:ext cx="3840480" cy="329184"/>
          </a:xfrm>
          <a:prstGeom prst="rect">
            <a:avLst/>
          </a:prstGeom>
          <a:noFill/>
          <a:ln/>
        </p:spPr>
        <p:txBody>
          <a:bodyPr wrap="square" lIns="0" tIns="0" rIns="0" bIns="0" rtlCol="0" anchor="ctr"/>
          <a:lstStyle/>
          <a:p>
            <a:pPr marL="0" indent="0">
              <a:lnSpc>
                <a:spcPct val="105000"/>
              </a:lnSpc>
              <a:buNone/>
            </a:pPr>
            <a:r>
              <a:rPr lang="en-US" sz="980" dirty="0">
                <a:solidFill>
                  <a:srgbClr val="746F92"/>
                </a:solidFill>
                <a:latin typeface="Calibri" pitchFamily="34" charset="0"/>
                <a:ea typeface="Calibri" pitchFamily="34" charset="-122"/>
                <a:cs typeface="Calibri" pitchFamily="34" charset="-120"/>
              </a:rPr>
              <a:t>subtotal, discount, fees, tip, order_total</a:t>
            </a:r>
            <a:endParaRPr lang="en-US" sz="980" dirty="0"/>
          </a:p>
        </p:txBody>
      </p:sp>
      <p:sp>
        <p:nvSpPr>
          <p:cNvPr id="28" name="Text 26"/>
          <p:cNvSpPr txBox="1"/>
          <p:nvPr/>
        </p:nvSpPr>
        <p:spPr>
          <a:xfrm>
            <a:off x="7589520" y="2816352"/>
            <a:ext cx="1188720" cy="256032"/>
          </a:xfrm>
          <a:prstGeom prst="rect">
            <a:avLst/>
          </a:prstGeom>
          <a:noFill/>
          <a:ln/>
        </p:spPr>
        <p:txBody>
          <a:bodyPr wrap="square" lIns="0" tIns="0" rIns="0" bIns="0" rtlCol="0" anchor="ctr"/>
          <a:lstStyle/>
          <a:p>
            <a:pPr marL="0" indent="0">
              <a:buNone/>
            </a:pPr>
            <a:r>
              <a:rPr lang="en-US" sz="1150" b="1" dirty="0">
                <a:solidFill>
                  <a:srgbClr val="FF6B35"/>
                </a:solidFill>
                <a:latin typeface="Calibri" pitchFamily="34" charset="0"/>
                <a:ea typeface="Calibri" pitchFamily="34" charset="-122"/>
                <a:cs typeface="Calibri" pitchFamily="34" charset="-120"/>
              </a:rPr>
              <a:t>Delivery  </a:t>
            </a:r>
            <a:endParaRPr lang="en-US" sz="1150" dirty="0"/>
          </a:p>
        </p:txBody>
      </p:sp>
      <p:sp>
        <p:nvSpPr>
          <p:cNvPr id="29" name="Text 27"/>
          <p:cNvSpPr txBox="1"/>
          <p:nvPr/>
        </p:nvSpPr>
        <p:spPr>
          <a:xfrm>
            <a:off x="7589520" y="3035808"/>
            <a:ext cx="3840480" cy="329184"/>
          </a:xfrm>
          <a:prstGeom prst="rect">
            <a:avLst/>
          </a:prstGeom>
          <a:noFill/>
          <a:ln/>
        </p:spPr>
        <p:txBody>
          <a:bodyPr wrap="square" lIns="0" tIns="0" rIns="0" bIns="0" rtlCol="0" anchor="ctr"/>
          <a:lstStyle/>
          <a:p>
            <a:pPr marL="0" indent="0">
              <a:lnSpc>
                <a:spcPct val="105000"/>
              </a:lnSpc>
              <a:buNone/>
            </a:pPr>
            <a:r>
              <a:rPr lang="en-US" sz="980" dirty="0">
                <a:solidFill>
                  <a:srgbClr val="746F92"/>
                </a:solidFill>
                <a:latin typeface="Calibri" pitchFamily="34" charset="0"/>
                <a:ea typeface="Calibri" pitchFamily="34" charset="-122"/>
                <a:cs typeface="Calibri" pitchFamily="34" charset="-120"/>
              </a:rPr>
              <a:t>estimated vs. actual time, late_delivery, traffic</a:t>
            </a:r>
            <a:endParaRPr lang="en-US" sz="980" dirty="0"/>
          </a:p>
        </p:txBody>
      </p:sp>
      <p:sp>
        <p:nvSpPr>
          <p:cNvPr id="30" name="Text 28"/>
          <p:cNvSpPr txBox="1"/>
          <p:nvPr/>
        </p:nvSpPr>
        <p:spPr>
          <a:xfrm>
            <a:off x="3566160" y="3438144"/>
            <a:ext cx="1188720" cy="256032"/>
          </a:xfrm>
          <a:prstGeom prst="rect">
            <a:avLst/>
          </a:prstGeom>
          <a:noFill/>
          <a:ln/>
        </p:spPr>
        <p:txBody>
          <a:bodyPr wrap="square" lIns="0" tIns="0" rIns="0" bIns="0" rtlCol="0" anchor="ctr"/>
          <a:lstStyle/>
          <a:p>
            <a:pPr marL="0" indent="0">
              <a:buNone/>
            </a:pPr>
            <a:r>
              <a:rPr lang="en-US" sz="1150" b="1" dirty="0">
                <a:solidFill>
                  <a:srgbClr val="FF6B35"/>
                </a:solidFill>
                <a:latin typeface="Calibri" pitchFamily="34" charset="0"/>
                <a:ea typeface="Calibri" pitchFamily="34" charset="-122"/>
                <a:cs typeface="Calibri" pitchFamily="34" charset="-120"/>
              </a:rPr>
              <a:t>People  </a:t>
            </a:r>
            <a:endParaRPr lang="en-US" sz="1150" dirty="0"/>
          </a:p>
        </p:txBody>
      </p:sp>
      <p:sp>
        <p:nvSpPr>
          <p:cNvPr id="31" name="Text 29"/>
          <p:cNvSpPr txBox="1"/>
          <p:nvPr/>
        </p:nvSpPr>
        <p:spPr>
          <a:xfrm>
            <a:off x="3566160" y="3657600"/>
            <a:ext cx="3840480" cy="329184"/>
          </a:xfrm>
          <a:prstGeom prst="rect">
            <a:avLst/>
          </a:prstGeom>
          <a:noFill/>
          <a:ln/>
        </p:spPr>
        <p:txBody>
          <a:bodyPr wrap="square" lIns="0" tIns="0" rIns="0" bIns="0" rtlCol="0" anchor="ctr"/>
          <a:lstStyle/>
          <a:p>
            <a:pPr marL="0" indent="0">
              <a:lnSpc>
                <a:spcPct val="105000"/>
              </a:lnSpc>
              <a:buNone/>
            </a:pPr>
            <a:r>
              <a:rPr lang="en-US" sz="980" dirty="0">
                <a:solidFill>
                  <a:srgbClr val="746F92"/>
                </a:solidFill>
                <a:latin typeface="Calibri" pitchFamily="34" charset="0"/>
                <a:ea typeface="Calibri" pitchFamily="34" charset="-122"/>
                <a:cs typeface="Calibri" pitchFamily="34" charset="-120"/>
              </a:rPr>
              <a:t>customer_type, restaurant_type, driver rating</a:t>
            </a:r>
            <a:endParaRPr lang="en-US" sz="980" dirty="0"/>
          </a:p>
        </p:txBody>
      </p:sp>
      <p:sp>
        <p:nvSpPr>
          <p:cNvPr id="32" name="Text 30"/>
          <p:cNvSpPr txBox="1"/>
          <p:nvPr/>
        </p:nvSpPr>
        <p:spPr>
          <a:xfrm>
            <a:off x="7589520" y="3438144"/>
            <a:ext cx="1188720" cy="256032"/>
          </a:xfrm>
          <a:prstGeom prst="rect">
            <a:avLst/>
          </a:prstGeom>
          <a:noFill/>
          <a:ln/>
        </p:spPr>
        <p:txBody>
          <a:bodyPr wrap="square" lIns="0" tIns="0" rIns="0" bIns="0" rtlCol="0" anchor="ctr"/>
          <a:lstStyle/>
          <a:p>
            <a:pPr marL="0" indent="0">
              <a:buNone/>
            </a:pPr>
            <a:r>
              <a:rPr lang="en-US" sz="1150" b="1" dirty="0">
                <a:solidFill>
                  <a:srgbClr val="FF6B35"/>
                </a:solidFill>
                <a:latin typeface="Calibri" pitchFamily="34" charset="0"/>
                <a:ea typeface="Calibri" pitchFamily="34" charset="-122"/>
                <a:cs typeface="Calibri" pitchFamily="34" charset="-120"/>
              </a:rPr>
              <a:t>Outcome  </a:t>
            </a:r>
            <a:endParaRPr lang="en-US" sz="1150" dirty="0"/>
          </a:p>
        </p:txBody>
      </p:sp>
      <p:sp>
        <p:nvSpPr>
          <p:cNvPr id="33" name="Text 31"/>
          <p:cNvSpPr txBox="1"/>
          <p:nvPr/>
        </p:nvSpPr>
        <p:spPr>
          <a:xfrm>
            <a:off x="7589520" y="3657600"/>
            <a:ext cx="3840480" cy="329184"/>
          </a:xfrm>
          <a:prstGeom prst="rect">
            <a:avLst/>
          </a:prstGeom>
          <a:noFill/>
          <a:ln/>
        </p:spPr>
        <p:txBody>
          <a:bodyPr wrap="square" lIns="0" tIns="0" rIns="0" bIns="0" rtlCol="0" anchor="ctr"/>
          <a:lstStyle/>
          <a:p>
            <a:pPr marL="0" indent="0">
              <a:lnSpc>
                <a:spcPct val="105000"/>
              </a:lnSpc>
              <a:buNone/>
            </a:pPr>
            <a:r>
              <a:rPr lang="en-US" sz="980" dirty="0">
                <a:solidFill>
                  <a:srgbClr val="746F92"/>
                </a:solidFill>
                <a:latin typeface="Calibri" pitchFamily="34" charset="0"/>
                <a:ea typeface="Calibri" pitchFamily="34" charset="-122"/>
                <a:cs typeface="Calibri" pitchFamily="34" charset="-120"/>
              </a:rPr>
              <a:t>order_status, cancellation_reason, ratings</a:t>
            </a:r>
            <a:endParaRPr lang="en-US" sz="980" dirty="0"/>
          </a:p>
        </p:txBody>
      </p:sp>
      <p:sp>
        <p:nvSpPr>
          <p:cNvPr id="34" name="Shape 32"/>
          <p:cNvSpPr/>
          <p:nvPr/>
        </p:nvSpPr>
        <p:spPr>
          <a:xfrm>
            <a:off x="3291840" y="4297680"/>
            <a:ext cx="8275320" cy="2057400"/>
          </a:xfrm>
          <a:prstGeom prst="roundRect">
            <a:avLst>
              <a:gd name="adj" fmla="val 4000"/>
            </a:avLst>
          </a:prstGeom>
          <a:solidFill>
            <a:srgbClr val="1B1235"/>
          </a:solidFill>
          <a:ln/>
        </p:spPr>
      </p:sp>
      <p:sp>
        <p:nvSpPr>
          <p:cNvPr id="35" name="Shape 33"/>
          <p:cNvSpPr/>
          <p:nvPr/>
        </p:nvSpPr>
        <p:spPr>
          <a:xfrm>
            <a:off x="3547872" y="4480560"/>
            <a:ext cx="457200" cy="457200"/>
          </a:xfrm>
          <a:prstGeom prst="ellipse">
            <a:avLst/>
          </a:prstGeom>
          <a:solidFill>
            <a:srgbClr val="2EC4B6"/>
          </a:solidFill>
          <a:ln/>
        </p:spPr>
      </p:sp>
      <p:pic>
        <p:nvPicPr>
          <p:cNvPr id="36" name="Image 0" descr="/home/claude/icons/python.png"/>
          <p:cNvPicPr>
            <a:picLocks noChangeAspect="1"/>
          </p:cNvPicPr>
          <p:nvPr/>
        </p:nvPicPr>
        <p:blipFill>
          <a:blip r:embed="rId3"/>
          <a:stretch>
            <a:fillRect/>
          </a:stretch>
        </p:blipFill>
        <p:spPr>
          <a:xfrm>
            <a:off x="3666744" y="4599432"/>
            <a:ext cx="219456" cy="219456"/>
          </a:xfrm>
          <a:prstGeom prst="rect">
            <a:avLst/>
          </a:prstGeom>
        </p:spPr>
      </p:pic>
      <p:sp>
        <p:nvSpPr>
          <p:cNvPr id="37" name="Text 34"/>
          <p:cNvSpPr txBox="1"/>
          <p:nvPr/>
        </p:nvSpPr>
        <p:spPr>
          <a:xfrm>
            <a:off x="4160520" y="4498848"/>
            <a:ext cx="5486400"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Data Cleaning with pandas</a:t>
            </a:r>
            <a:endParaRPr lang="en-US" sz="1450" dirty="0"/>
          </a:p>
        </p:txBody>
      </p:sp>
      <p:sp>
        <p:nvSpPr>
          <p:cNvPr id="38" name="Text 35"/>
          <p:cNvSpPr txBox="1"/>
          <p:nvPr/>
        </p:nvSpPr>
        <p:spPr>
          <a:xfrm>
            <a:off x="3566160" y="4901184"/>
            <a:ext cx="7680960" cy="246888"/>
          </a:xfrm>
          <a:prstGeom prst="rect">
            <a:avLst/>
          </a:prstGeom>
          <a:noFill/>
          <a:ln/>
        </p:spPr>
        <p:txBody>
          <a:bodyPr wrap="square" lIns="0" tIns="0" rIns="0" bIns="0" rtlCol="0" anchor="ctr"/>
          <a:lstStyle/>
          <a:p>
            <a:pPr marL="177800" indent="-177800">
              <a:buSzPct val="100000"/>
              <a:buChar char="●"/>
            </a:pPr>
            <a:r>
              <a:rPr lang="en-US" sz="1060" dirty="0">
                <a:solidFill>
                  <a:srgbClr val="DAD5F0"/>
                </a:solidFill>
                <a:latin typeface="Calibri" pitchFamily="34" charset="0"/>
                <a:ea typeface="Calibri" pitchFamily="34" charset="-122"/>
                <a:cs typeface="Calibri" pitchFamily="34" charset="-120"/>
              </a:rPr>
              <a:t>Checked and handled missing / duplicate order records</a:t>
            </a:r>
            <a:endParaRPr lang="en-US" sz="1060" dirty="0"/>
          </a:p>
        </p:txBody>
      </p:sp>
      <p:sp>
        <p:nvSpPr>
          <p:cNvPr id="39" name="Text 36"/>
          <p:cNvSpPr txBox="1"/>
          <p:nvPr/>
        </p:nvSpPr>
        <p:spPr>
          <a:xfrm>
            <a:off x="3566160" y="5148072"/>
            <a:ext cx="7680960" cy="246888"/>
          </a:xfrm>
          <a:prstGeom prst="rect">
            <a:avLst/>
          </a:prstGeom>
          <a:noFill/>
          <a:ln/>
        </p:spPr>
        <p:txBody>
          <a:bodyPr wrap="square" lIns="0" tIns="0" rIns="0" bIns="0" rtlCol="0" anchor="ctr"/>
          <a:lstStyle/>
          <a:p>
            <a:pPr marL="177800" indent="-177800">
              <a:buSzPct val="100000"/>
              <a:buChar char="●"/>
            </a:pPr>
            <a:r>
              <a:rPr lang="en-US" sz="1060" dirty="0">
                <a:solidFill>
                  <a:srgbClr val="DAD5F0"/>
                </a:solidFill>
                <a:latin typeface="Calibri" pitchFamily="34" charset="0"/>
                <a:ea typeface="Calibri" pitchFamily="34" charset="-122"/>
                <a:cs typeface="Calibri" pitchFamily="34" charset="-120"/>
              </a:rPr>
              <a:t>Converted order_timestamp to datetime; derived order_hour, day_of_week, is_weekend</a:t>
            </a:r>
            <a:endParaRPr lang="en-US" sz="1060" dirty="0"/>
          </a:p>
        </p:txBody>
      </p:sp>
      <p:sp>
        <p:nvSpPr>
          <p:cNvPr id="40" name="Text 37"/>
          <p:cNvSpPr txBox="1"/>
          <p:nvPr/>
        </p:nvSpPr>
        <p:spPr>
          <a:xfrm>
            <a:off x="3566160" y="5394960"/>
            <a:ext cx="7680960" cy="246888"/>
          </a:xfrm>
          <a:prstGeom prst="rect">
            <a:avLst/>
          </a:prstGeom>
          <a:noFill/>
          <a:ln/>
        </p:spPr>
        <p:txBody>
          <a:bodyPr wrap="square" lIns="0" tIns="0" rIns="0" bIns="0" rtlCol="0" anchor="ctr"/>
          <a:lstStyle/>
          <a:p>
            <a:pPr marL="177800" indent="-177800">
              <a:buSzPct val="100000"/>
              <a:buChar char="●"/>
            </a:pPr>
            <a:r>
              <a:rPr lang="en-US" sz="1060" dirty="0">
                <a:solidFill>
                  <a:srgbClr val="DAD5F0"/>
                </a:solidFill>
                <a:latin typeface="Calibri" pitchFamily="34" charset="0"/>
                <a:ea typeface="Calibri" pitchFamily="34" charset="-122"/>
                <a:cs typeface="Calibri" pitchFamily="34" charset="-120"/>
              </a:rPr>
              <a:t>Fixed data types for monetary and time columns (float/int casting)</a:t>
            </a:r>
            <a:endParaRPr lang="en-US" sz="1060" dirty="0"/>
          </a:p>
        </p:txBody>
      </p:sp>
      <p:sp>
        <p:nvSpPr>
          <p:cNvPr id="41" name="Text 38"/>
          <p:cNvSpPr txBox="1"/>
          <p:nvPr/>
        </p:nvSpPr>
        <p:spPr>
          <a:xfrm>
            <a:off x="3566160" y="5641848"/>
            <a:ext cx="7680960" cy="246888"/>
          </a:xfrm>
          <a:prstGeom prst="rect">
            <a:avLst/>
          </a:prstGeom>
          <a:noFill/>
          <a:ln/>
        </p:spPr>
        <p:txBody>
          <a:bodyPr wrap="square" lIns="0" tIns="0" rIns="0" bIns="0" rtlCol="0" anchor="ctr"/>
          <a:lstStyle/>
          <a:p>
            <a:pPr marL="177800" indent="-177800">
              <a:buSzPct val="100000"/>
              <a:buChar char="●"/>
            </a:pPr>
            <a:r>
              <a:rPr lang="en-US" sz="1060" dirty="0">
                <a:solidFill>
                  <a:srgbClr val="DAD5F0"/>
                </a:solidFill>
                <a:latin typeface="Calibri" pitchFamily="34" charset="0"/>
                <a:ea typeface="Calibri" pitchFamily="34" charset="-122"/>
                <a:cs typeface="Calibri" pitchFamily="34" charset="-120"/>
              </a:rPr>
              <a:t>Engineered the late_delivery flag from estimated vs. actual delivery time</a:t>
            </a:r>
            <a:endParaRPr lang="en-US" sz="1060" dirty="0"/>
          </a:p>
        </p:txBody>
      </p:sp>
      <p:sp>
        <p:nvSpPr>
          <p:cNvPr id="42" name="Text 39"/>
          <p:cNvSpPr txBox="1"/>
          <p:nvPr/>
        </p:nvSpPr>
        <p:spPr>
          <a:xfrm>
            <a:off x="3566160" y="5888736"/>
            <a:ext cx="7680960" cy="246888"/>
          </a:xfrm>
          <a:prstGeom prst="rect">
            <a:avLst/>
          </a:prstGeom>
          <a:noFill/>
          <a:ln/>
        </p:spPr>
        <p:txBody>
          <a:bodyPr wrap="square" lIns="0" tIns="0" rIns="0" bIns="0" rtlCol="0" anchor="ctr"/>
          <a:lstStyle/>
          <a:p>
            <a:pPr marL="177800" indent="-177800">
              <a:buSzPct val="100000"/>
              <a:buChar char="●"/>
            </a:pPr>
            <a:r>
              <a:rPr lang="en-US" sz="1060" dirty="0">
                <a:solidFill>
                  <a:srgbClr val="DAD5F0"/>
                </a:solidFill>
                <a:latin typeface="Calibri" pitchFamily="34" charset="0"/>
                <a:ea typeface="Calibri" pitchFamily="34" charset="-122"/>
                <a:cs typeface="Calibri" pitchFamily="34" charset="-120"/>
              </a:rPr>
              <a:t>Standardized categorical text (city, payment_method, cancellation_reason)</a:t>
            </a:r>
            <a:endParaRPr lang="en-US" sz="1060" dirty="0"/>
          </a:p>
        </p:txBody>
      </p:sp>
      <p:sp>
        <p:nvSpPr>
          <p:cNvPr id="43" name="Text 40"/>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kern="0" spc="100" dirty="0">
                <a:solidFill>
                  <a:srgbClr val="746F92"/>
                </a:solidFill>
                <a:latin typeface="Calibri" pitchFamily="34" charset="0"/>
                <a:ea typeface="Calibri" pitchFamily="34" charset="-122"/>
                <a:cs typeface="Calibri" pitchFamily="34" charset="-120"/>
              </a:rPr>
              <a:t>FOOD DELIVERY ORDER &amp; DELIVERY PERFORMANCE ANALYSIS</a:t>
            </a:r>
            <a:endParaRPr lang="en-US" sz="900" dirty="0"/>
          </a:p>
        </p:txBody>
      </p:sp>
      <p:sp>
        <p:nvSpPr>
          <p:cNvPr id="44" name="Text 41"/>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F92"/>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B"/>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9144000" cy="548640"/>
          </a:xfrm>
          <a:prstGeom prst="rect">
            <a:avLst/>
          </a:prstGeom>
          <a:noFill/>
          <a:ln/>
        </p:spPr>
        <p:txBody>
          <a:bodyPr wrap="square" lIns="0" tIns="0" rIns="0" bIns="0" rtlCol="0" anchor="ctr"/>
          <a:lstStyle/>
          <a:p>
            <a:pPr marL="0" indent="0">
              <a:buNone/>
            </a:pPr>
            <a:r>
              <a:rPr lang="en-US" sz="3000" b="1" dirty="0">
                <a:solidFill>
                  <a:srgbClr val="221A3D"/>
                </a:solidFill>
                <a:latin typeface="Cambria" pitchFamily="34" charset="0"/>
                <a:ea typeface="Cambria" pitchFamily="34" charset="-122"/>
                <a:cs typeface="Cambria" pitchFamily="34" charset="-120"/>
              </a:rPr>
              <a:t>Methodology &amp; Tools</a:t>
            </a:r>
            <a:endParaRPr lang="en-US" sz="3000" dirty="0"/>
          </a:p>
        </p:txBody>
      </p:sp>
      <p:sp>
        <p:nvSpPr>
          <p:cNvPr id="3" name="Text 1"/>
          <p:cNvSpPr txBox="1"/>
          <p:nvPr/>
        </p:nvSpPr>
        <p:spPr>
          <a:xfrm>
            <a:off x="640080" y="1024128"/>
            <a:ext cx="9601200" cy="365760"/>
          </a:xfrm>
          <a:prstGeom prst="rect">
            <a:avLst/>
          </a:prstGeom>
          <a:noFill/>
          <a:ln/>
        </p:spPr>
        <p:txBody>
          <a:bodyPr wrap="square" lIns="0" tIns="0" rIns="0" bIns="0" rtlCol="0" anchor="ctr"/>
          <a:lstStyle/>
          <a:p>
            <a:pPr marL="0" indent="0">
              <a:buNone/>
            </a:pPr>
            <a:r>
              <a:rPr lang="en-US" sz="1400" i="1" dirty="0">
                <a:solidFill>
                  <a:srgbClr val="746F92"/>
                </a:solidFill>
                <a:latin typeface="Calibri" pitchFamily="34" charset="0"/>
                <a:ea typeface="Calibri" pitchFamily="34" charset="-122"/>
                <a:cs typeface="Calibri" pitchFamily="34" charset="-120"/>
              </a:rPr>
              <a:t>From raw CSV to an interactive, decision-ready dashboard</a:t>
            </a:r>
            <a:endParaRPr lang="en-US" sz="1400" dirty="0"/>
          </a:p>
        </p:txBody>
      </p:sp>
      <p:sp>
        <p:nvSpPr>
          <p:cNvPr id="4" name="Shape 2"/>
          <p:cNvSpPr/>
          <p:nvPr/>
        </p:nvSpPr>
        <p:spPr>
          <a:xfrm>
            <a:off x="1143000" y="2834640"/>
            <a:ext cx="9875520" cy="0"/>
          </a:xfrm>
          <a:prstGeom prst="line">
            <a:avLst/>
          </a:prstGeom>
          <a:noFill/>
          <a:ln w="31750">
            <a:solidFill>
              <a:srgbClr val="E7E4F2"/>
            </a:solidFill>
            <a:prstDash val="solid"/>
          </a:ln>
        </p:spPr>
      </p:sp>
      <p:sp>
        <p:nvSpPr>
          <p:cNvPr id="5" name="Shape 3"/>
          <p:cNvSpPr/>
          <p:nvPr/>
        </p:nvSpPr>
        <p:spPr>
          <a:xfrm>
            <a:off x="1225296" y="2331720"/>
            <a:ext cx="1005840" cy="1005840"/>
          </a:xfrm>
          <a:prstGeom prst="ellipse">
            <a:avLst/>
          </a:prstGeom>
          <a:solidFill>
            <a:srgbClr val="1B1235"/>
          </a:solidFill>
          <a:ln/>
        </p:spPr>
      </p:sp>
      <p:pic>
        <p:nvPicPr>
          <p:cNvPr id="6" name="Image 0" descr="/home/claude/icons/database.png"/>
          <p:cNvPicPr>
            <a:picLocks noChangeAspect="1"/>
          </p:cNvPicPr>
          <p:nvPr/>
        </p:nvPicPr>
        <p:blipFill>
          <a:blip r:embed="rId3"/>
          <a:stretch>
            <a:fillRect/>
          </a:stretch>
        </p:blipFill>
        <p:spPr>
          <a:xfrm>
            <a:off x="1486814" y="2593238"/>
            <a:ext cx="482803" cy="482803"/>
          </a:xfrm>
          <a:prstGeom prst="rect">
            <a:avLst/>
          </a:prstGeom>
        </p:spPr>
      </p:pic>
      <p:sp>
        <p:nvSpPr>
          <p:cNvPr id="7" name="Shape 4"/>
          <p:cNvSpPr/>
          <p:nvPr/>
        </p:nvSpPr>
        <p:spPr>
          <a:xfrm>
            <a:off x="1627632" y="3502152"/>
            <a:ext cx="201168" cy="201168"/>
          </a:xfrm>
          <a:prstGeom prst="ellipse">
            <a:avLst/>
          </a:prstGeom>
          <a:solidFill>
            <a:srgbClr val="FF6B35"/>
          </a:solidFill>
          <a:ln w="25400">
            <a:solidFill>
              <a:srgbClr val="FFFFFF"/>
            </a:solidFill>
            <a:prstDash val="solid"/>
          </a:ln>
        </p:spPr>
      </p:sp>
      <p:sp>
        <p:nvSpPr>
          <p:cNvPr id="8" name="Text 5"/>
          <p:cNvSpPr txBox="1"/>
          <p:nvPr/>
        </p:nvSpPr>
        <p:spPr>
          <a:xfrm>
            <a:off x="731520" y="3886200"/>
            <a:ext cx="1993392" cy="365760"/>
          </a:xfrm>
          <a:prstGeom prst="rect">
            <a:avLst/>
          </a:prstGeom>
          <a:noFill/>
          <a:ln/>
        </p:spPr>
        <p:txBody>
          <a:bodyPr wrap="square" lIns="0" tIns="0" rIns="0" bIns="0" rtlCol="0" anchor="ctr"/>
          <a:lstStyle/>
          <a:p>
            <a:pPr marL="0" indent="0" algn="ctr">
              <a:buNone/>
            </a:pPr>
            <a:r>
              <a:rPr lang="en-US" sz="1400" b="1" dirty="0">
                <a:solidFill>
                  <a:srgbClr val="221A3D"/>
                </a:solidFill>
                <a:latin typeface="Calibri" pitchFamily="34" charset="0"/>
                <a:ea typeface="Calibri" pitchFamily="34" charset="-122"/>
                <a:cs typeface="Calibri" pitchFamily="34" charset="-120"/>
              </a:rPr>
              <a:t>1.  Collect</a:t>
            </a:r>
            <a:endParaRPr lang="en-US" sz="1400" dirty="0"/>
          </a:p>
        </p:txBody>
      </p:sp>
      <p:sp>
        <p:nvSpPr>
          <p:cNvPr id="9" name="Text 6"/>
          <p:cNvSpPr txBox="1"/>
          <p:nvPr/>
        </p:nvSpPr>
        <p:spPr>
          <a:xfrm>
            <a:off x="777240" y="4270248"/>
            <a:ext cx="1901952" cy="1005840"/>
          </a:xfrm>
          <a:prstGeom prst="rect">
            <a:avLst/>
          </a:prstGeom>
          <a:noFill/>
          <a:ln/>
        </p:spPr>
        <p:txBody>
          <a:bodyPr wrap="square" lIns="0" tIns="0" rIns="0" bIns="0" rtlCol="0" anchor="ctr"/>
          <a:lstStyle/>
          <a:p>
            <a:pPr marL="0" indent="0" algn="ctr">
              <a:lnSpc>
                <a:spcPct val="120000"/>
              </a:lnSpc>
              <a:buNone/>
            </a:pPr>
            <a:r>
              <a:rPr lang="en-US" sz="1050" dirty="0">
                <a:solidFill>
                  <a:srgbClr val="746F92"/>
                </a:solidFill>
                <a:latin typeface="Calibri" pitchFamily="34" charset="0"/>
                <a:ea typeface="Calibri" pitchFamily="34" charset="-122"/>
                <a:cs typeface="Calibri" pitchFamily="34" charset="-120"/>
              </a:rPr>
              <a:t>Gather raw food delivery order records (50,000 rows, 37 fields)</a:t>
            </a:r>
            <a:endParaRPr lang="en-US" sz="1050" dirty="0"/>
          </a:p>
        </p:txBody>
      </p:sp>
      <p:sp>
        <p:nvSpPr>
          <p:cNvPr id="10" name="Shape 7"/>
          <p:cNvSpPr/>
          <p:nvPr/>
        </p:nvSpPr>
        <p:spPr>
          <a:xfrm>
            <a:off x="3401568" y="2331720"/>
            <a:ext cx="1005840" cy="1005840"/>
          </a:xfrm>
          <a:prstGeom prst="ellipse">
            <a:avLst/>
          </a:prstGeom>
          <a:solidFill>
            <a:srgbClr val="2EC4B6"/>
          </a:solidFill>
          <a:ln/>
        </p:spPr>
      </p:sp>
      <p:pic>
        <p:nvPicPr>
          <p:cNvPr id="11" name="Image 1" descr="/home/claude/icons/python.png"/>
          <p:cNvPicPr>
            <a:picLocks noChangeAspect="1"/>
          </p:cNvPicPr>
          <p:nvPr/>
        </p:nvPicPr>
        <p:blipFill>
          <a:blip r:embed="rId4"/>
          <a:stretch>
            <a:fillRect/>
          </a:stretch>
        </p:blipFill>
        <p:spPr>
          <a:xfrm>
            <a:off x="3663086" y="2593238"/>
            <a:ext cx="482803" cy="482803"/>
          </a:xfrm>
          <a:prstGeom prst="rect">
            <a:avLst/>
          </a:prstGeom>
        </p:spPr>
      </p:pic>
      <p:sp>
        <p:nvSpPr>
          <p:cNvPr id="12" name="Shape 8"/>
          <p:cNvSpPr/>
          <p:nvPr/>
        </p:nvSpPr>
        <p:spPr>
          <a:xfrm>
            <a:off x="3803904" y="3502152"/>
            <a:ext cx="201168" cy="201168"/>
          </a:xfrm>
          <a:prstGeom prst="ellipse">
            <a:avLst/>
          </a:prstGeom>
          <a:solidFill>
            <a:srgbClr val="FF6B35"/>
          </a:solidFill>
          <a:ln w="25400">
            <a:solidFill>
              <a:srgbClr val="FFFFFF"/>
            </a:solidFill>
            <a:prstDash val="solid"/>
          </a:ln>
        </p:spPr>
      </p:sp>
      <p:sp>
        <p:nvSpPr>
          <p:cNvPr id="13" name="Text 9"/>
          <p:cNvSpPr txBox="1"/>
          <p:nvPr/>
        </p:nvSpPr>
        <p:spPr>
          <a:xfrm>
            <a:off x="2907792" y="3886200"/>
            <a:ext cx="1993392" cy="365760"/>
          </a:xfrm>
          <a:prstGeom prst="rect">
            <a:avLst/>
          </a:prstGeom>
          <a:noFill/>
          <a:ln/>
        </p:spPr>
        <p:txBody>
          <a:bodyPr wrap="square" lIns="0" tIns="0" rIns="0" bIns="0" rtlCol="0" anchor="ctr"/>
          <a:lstStyle/>
          <a:p>
            <a:pPr marL="0" indent="0" algn="ctr">
              <a:buNone/>
            </a:pPr>
            <a:r>
              <a:rPr lang="en-US" sz="1400" b="1" dirty="0">
                <a:solidFill>
                  <a:srgbClr val="221A3D"/>
                </a:solidFill>
                <a:latin typeface="Calibri" pitchFamily="34" charset="0"/>
                <a:ea typeface="Calibri" pitchFamily="34" charset="-122"/>
                <a:cs typeface="Calibri" pitchFamily="34" charset="-120"/>
              </a:rPr>
              <a:t>2.  Clean &amp; Prepare</a:t>
            </a:r>
            <a:endParaRPr lang="en-US" sz="1400" dirty="0"/>
          </a:p>
        </p:txBody>
      </p:sp>
      <p:sp>
        <p:nvSpPr>
          <p:cNvPr id="14" name="Text 10"/>
          <p:cNvSpPr txBox="1"/>
          <p:nvPr/>
        </p:nvSpPr>
        <p:spPr>
          <a:xfrm>
            <a:off x="2953512" y="4270248"/>
            <a:ext cx="1901952" cy="1005840"/>
          </a:xfrm>
          <a:prstGeom prst="rect">
            <a:avLst/>
          </a:prstGeom>
          <a:noFill/>
          <a:ln/>
        </p:spPr>
        <p:txBody>
          <a:bodyPr wrap="square" lIns="0" tIns="0" rIns="0" bIns="0" rtlCol="0" anchor="ctr"/>
          <a:lstStyle/>
          <a:p>
            <a:pPr marL="0" indent="0" algn="ctr">
              <a:lnSpc>
                <a:spcPct val="120000"/>
              </a:lnSpc>
              <a:buNone/>
            </a:pPr>
            <a:r>
              <a:rPr lang="en-US" sz="1050" dirty="0">
                <a:solidFill>
                  <a:srgbClr val="746F92"/>
                </a:solidFill>
                <a:latin typeface="Calibri" pitchFamily="34" charset="0"/>
                <a:ea typeface="Calibri" pitchFamily="34" charset="-122"/>
                <a:cs typeface="Calibri" pitchFamily="34" charset="-120"/>
              </a:rPr>
              <a:t>Use pandas to fix types, handle missing data &amp; engineer features</a:t>
            </a:r>
            <a:endParaRPr lang="en-US" sz="1050" dirty="0"/>
          </a:p>
        </p:txBody>
      </p:sp>
      <p:sp>
        <p:nvSpPr>
          <p:cNvPr id="15" name="Shape 11"/>
          <p:cNvSpPr/>
          <p:nvPr/>
        </p:nvSpPr>
        <p:spPr>
          <a:xfrm>
            <a:off x="5577840" y="2331720"/>
            <a:ext cx="1005840" cy="1005840"/>
          </a:xfrm>
          <a:prstGeom prst="ellipse">
            <a:avLst/>
          </a:prstGeom>
          <a:solidFill>
            <a:srgbClr val="1B1235"/>
          </a:solidFill>
          <a:ln/>
        </p:spPr>
      </p:sp>
      <p:pic>
        <p:nvPicPr>
          <p:cNvPr id="16" name="Image 2" descr="/home/claude/icons/chartbar.png"/>
          <p:cNvPicPr>
            <a:picLocks noChangeAspect="1"/>
          </p:cNvPicPr>
          <p:nvPr/>
        </p:nvPicPr>
        <p:blipFill>
          <a:blip r:embed="rId5"/>
          <a:stretch>
            <a:fillRect/>
          </a:stretch>
        </p:blipFill>
        <p:spPr>
          <a:xfrm>
            <a:off x="5839358" y="2593238"/>
            <a:ext cx="482803" cy="482803"/>
          </a:xfrm>
          <a:prstGeom prst="rect">
            <a:avLst/>
          </a:prstGeom>
        </p:spPr>
      </p:pic>
      <p:sp>
        <p:nvSpPr>
          <p:cNvPr id="17" name="Shape 12"/>
          <p:cNvSpPr/>
          <p:nvPr/>
        </p:nvSpPr>
        <p:spPr>
          <a:xfrm>
            <a:off x="5980176" y="3502152"/>
            <a:ext cx="201168" cy="201168"/>
          </a:xfrm>
          <a:prstGeom prst="ellipse">
            <a:avLst/>
          </a:prstGeom>
          <a:solidFill>
            <a:srgbClr val="FF6B35"/>
          </a:solidFill>
          <a:ln w="25400">
            <a:solidFill>
              <a:srgbClr val="FFFFFF"/>
            </a:solidFill>
            <a:prstDash val="solid"/>
          </a:ln>
        </p:spPr>
      </p:sp>
      <p:sp>
        <p:nvSpPr>
          <p:cNvPr id="18" name="Text 13"/>
          <p:cNvSpPr txBox="1"/>
          <p:nvPr/>
        </p:nvSpPr>
        <p:spPr>
          <a:xfrm>
            <a:off x="5084064" y="3886200"/>
            <a:ext cx="1993392" cy="365760"/>
          </a:xfrm>
          <a:prstGeom prst="rect">
            <a:avLst/>
          </a:prstGeom>
          <a:noFill/>
          <a:ln/>
        </p:spPr>
        <p:txBody>
          <a:bodyPr wrap="square" lIns="0" tIns="0" rIns="0" bIns="0" rtlCol="0" anchor="ctr"/>
          <a:lstStyle/>
          <a:p>
            <a:pPr marL="0" indent="0" algn="ctr">
              <a:buNone/>
            </a:pPr>
            <a:r>
              <a:rPr lang="en-US" sz="1400" b="1" dirty="0">
                <a:solidFill>
                  <a:srgbClr val="221A3D"/>
                </a:solidFill>
                <a:latin typeface="Calibri" pitchFamily="34" charset="0"/>
                <a:ea typeface="Calibri" pitchFamily="34" charset="-122"/>
                <a:cs typeface="Calibri" pitchFamily="34" charset="-120"/>
              </a:rPr>
              <a:t>3.  Explore</a:t>
            </a:r>
            <a:endParaRPr lang="en-US" sz="1400" dirty="0"/>
          </a:p>
        </p:txBody>
      </p:sp>
      <p:sp>
        <p:nvSpPr>
          <p:cNvPr id="19" name="Text 14"/>
          <p:cNvSpPr txBox="1"/>
          <p:nvPr/>
        </p:nvSpPr>
        <p:spPr>
          <a:xfrm>
            <a:off x="5129784" y="4270248"/>
            <a:ext cx="1901952" cy="1005840"/>
          </a:xfrm>
          <a:prstGeom prst="rect">
            <a:avLst/>
          </a:prstGeom>
          <a:noFill/>
          <a:ln/>
        </p:spPr>
        <p:txBody>
          <a:bodyPr wrap="square" lIns="0" tIns="0" rIns="0" bIns="0" rtlCol="0" anchor="ctr"/>
          <a:lstStyle/>
          <a:p>
            <a:pPr marL="0" indent="0" algn="ctr">
              <a:lnSpc>
                <a:spcPct val="120000"/>
              </a:lnSpc>
              <a:buNone/>
            </a:pPr>
            <a:r>
              <a:rPr lang="en-US" sz="1050" dirty="0">
                <a:solidFill>
                  <a:srgbClr val="746F92"/>
                </a:solidFill>
                <a:latin typeface="Calibri" pitchFamily="34" charset="0"/>
                <a:ea typeface="Calibri" pitchFamily="34" charset="-122"/>
                <a:cs typeface="Calibri" pitchFamily="34" charset="-120"/>
              </a:rPr>
              <a:t>Analyze trends in orders, revenue, delivery time &amp; cancellations</a:t>
            </a:r>
            <a:endParaRPr lang="en-US" sz="1050" dirty="0"/>
          </a:p>
        </p:txBody>
      </p:sp>
      <p:sp>
        <p:nvSpPr>
          <p:cNvPr id="20" name="Shape 15"/>
          <p:cNvSpPr/>
          <p:nvPr/>
        </p:nvSpPr>
        <p:spPr>
          <a:xfrm>
            <a:off x="7754112" y="2331720"/>
            <a:ext cx="1005840" cy="1005840"/>
          </a:xfrm>
          <a:prstGeom prst="ellipse">
            <a:avLst/>
          </a:prstGeom>
          <a:solidFill>
            <a:srgbClr val="2EC4B6"/>
          </a:solidFill>
          <a:ln/>
        </p:spPr>
      </p:sp>
      <p:pic>
        <p:nvPicPr>
          <p:cNvPr id="21" name="Image 3" descr="/home/claude/icons/dashboard.png"/>
          <p:cNvPicPr>
            <a:picLocks noChangeAspect="1"/>
          </p:cNvPicPr>
          <p:nvPr/>
        </p:nvPicPr>
        <p:blipFill>
          <a:blip r:embed="rId6"/>
          <a:stretch>
            <a:fillRect/>
          </a:stretch>
        </p:blipFill>
        <p:spPr>
          <a:xfrm>
            <a:off x="8015630" y="2593238"/>
            <a:ext cx="482803" cy="482803"/>
          </a:xfrm>
          <a:prstGeom prst="rect">
            <a:avLst/>
          </a:prstGeom>
        </p:spPr>
      </p:pic>
      <p:sp>
        <p:nvSpPr>
          <p:cNvPr id="22" name="Shape 16"/>
          <p:cNvSpPr/>
          <p:nvPr/>
        </p:nvSpPr>
        <p:spPr>
          <a:xfrm>
            <a:off x="8156448" y="3502152"/>
            <a:ext cx="201168" cy="201168"/>
          </a:xfrm>
          <a:prstGeom prst="ellipse">
            <a:avLst/>
          </a:prstGeom>
          <a:solidFill>
            <a:srgbClr val="FF6B35"/>
          </a:solidFill>
          <a:ln w="25400">
            <a:solidFill>
              <a:srgbClr val="FFFFFF"/>
            </a:solidFill>
            <a:prstDash val="solid"/>
          </a:ln>
        </p:spPr>
      </p:sp>
      <p:sp>
        <p:nvSpPr>
          <p:cNvPr id="23" name="Text 17"/>
          <p:cNvSpPr txBox="1"/>
          <p:nvPr/>
        </p:nvSpPr>
        <p:spPr>
          <a:xfrm>
            <a:off x="7260336" y="3886200"/>
            <a:ext cx="1993392" cy="365760"/>
          </a:xfrm>
          <a:prstGeom prst="rect">
            <a:avLst/>
          </a:prstGeom>
          <a:noFill/>
          <a:ln/>
        </p:spPr>
        <p:txBody>
          <a:bodyPr wrap="square" lIns="0" tIns="0" rIns="0" bIns="0" rtlCol="0" anchor="ctr"/>
          <a:lstStyle/>
          <a:p>
            <a:pPr marL="0" indent="0" algn="ctr">
              <a:buNone/>
            </a:pPr>
            <a:r>
              <a:rPr lang="en-US" sz="1400" b="1" dirty="0">
                <a:solidFill>
                  <a:srgbClr val="221A3D"/>
                </a:solidFill>
                <a:latin typeface="Calibri" pitchFamily="34" charset="0"/>
                <a:ea typeface="Calibri" pitchFamily="34" charset="-122"/>
                <a:cs typeface="Calibri" pitchFamily="34" charset="-120"/>
              </a:rPr>
              <a:t>4.  Visualize</a:t>
            </a:r>
            <a:endParaRPr lang="en-US" sz="1400" dirty="0"/>
          </a:p>
        </p:txBody>
      </p:sp>
      <p:sp>
        <p:nvSpPr>
          <p:cNvPr id="24" name="Text 18"/>
          <p:cNvSpPr txBox="1"/>
          <p:nvPr/>
        </p:nvSpPr>
        <p:spPr>
          <a:xfrm>
            <a:off x="7306056" y="4270248"/>
            <a:ext cx="1901952" cy="1005840"/>
          </a:xfrm>
          <a:prstGeom prst="rect">
            <a:avLst/>
          </a:prstGeom>
          <a:noFill/>
          <a:ln/>
        </p:spPr>
        <p:txBody>
          <a:bodyPr wrap="square" lIns="0" tIns="0" rIns="0" bIns="0" rtlCol="0" anchor="ctr"/>
          <a:lstStyle/>
          <a:p>
            <a:pPr marL="0" indent="0" algn="ctr">
              <a:lnSpc>
                <a:spcPct val="120000"/>
              </a:lnSpc>
              <a:buNone/>
            </a:pPr>
            <a:r>
              <a:rPr lang="en-US" sz="1050" dirty="0">
                <a:solidFill>
                  <a:srgbClr val="746F92"/>
                </a:solidFill>
                <a:latin typeface="Calibri" pitchFamily="34" charset="0"/>
                <a:ea typeface="Calibri" pitchFamily="34" charset="-122"/>
                <a:cs typeface="Calibri" pitchFamily="34" charset="-120"/>
              </a:rPr>
              <a:t>Design KPI cards &amp; charts on an interactive Power BI dashboard</a:t>
            </a:r>
            <a:endParaRPr lang="en-US" sz="1050" dirty="0"/>
          </a:p>
        </p:txBody>
      </p:sp>
      <p:sp>
        <p:nvSpPr>
          <p:cNvPr id="25" name="Shape 19"/>
          <p:cNvSpPr/>
          <p:nvPr/>
        </p:nvSpPr>
        <p:spPr>
          <a:xfrm>
            <a:off x="9930384" y="2331720"/>
            <a:ext cx="1005840" cy="1005840"/>
          </a:xfrm>
          <a:prstGeom prst="ellipse">
            <a:avLst/>
          </a:prstGeom>
          <a:solidFill>
            <a:srgbClr val="FF6B35"/>
          </a:solidFill>
          <a:ln/>
        </p:spPr>
      </p:sp>
      <p:pic>
        <p:nvPicPr>
          <p:cNvPr id="26" name="Image 4" descr="/home/claude/icons/lightbulb.png"/>
          <p:cNvPicPr>
            <a:picLocks noChangeAspect="1"/>
          </p:cNvPicPr>
          <p:nvPr/>
        </p:nvPicPr>
        <p:blipFill>
          <a:blip r:embed="rId7"/>
          <a:stretch>
            <a:fillRect/>
          </a:stretch>
        </p:blipFill>
        <p:spPr>
          <a:xfrm>
            <a:off x="10191902" y="2593238"/>
            <a:ext cx="482803" cy="482803"/>
          </a:xfrm>
          <a:prstGeom prst="rect">
            <a:avLst/>
          </a:prstGeom>
        </p:spPr>
      </p:pic>
      <p:sp>
        <p:nvSpPr>
          <p:cNvPr id="27" name="Shape 20"/>
          <p:cNvSpPr/>
          <p:nvPr/>
        </p:nvSpPr>
        <p:spPr>
          <a:xfrm>
            <a:off x="10332720" y="3502152"/>
            <a:ext cx="201168" cy="201168"/>
          </a:xfrm>
          <a:prstGeom prst="ellipse">
            <a:avLst/>
          </a:prstGeom>
          <a:solidFill>
            <a:srgbClr val="FF6B35"/>
          </a:solidFill>
          <a:ln w="25400">
            <a:solidFill>
              <a:srgbClr val="FFFFFF"/>
            </a:solidFill>
            <a:prstDash val="solid"/>
          </a:ln>
        </p:spPr>
      </p:sp>
      <p:sp>
        <p:nvSpPr>
          <p:cNvPr id="28" name="Text 21"/>
          <p:cNvSpPr txBox="1"/>
          <p:nvPr/>
        </p:nvSpPr>
        <p:spPr>
          <a:xfrm>
            <a:off x="9436608" y="3886200"/>
            <a:ext cx="1993392" cy="365760"/>
          </a:xfrm>
          <a:prstGeom prst="rect">
            <a:avLst/>
          </a:prstGeom>
          <a:noFill/>
          <a:ln/>
        </p:spPr>
        <p:txBody>
          <a:bodyPr wrap="square" lIns="0" tIns="0" rIns="0" bIns="0" rtlCol="0" anchor="ctr"/>
          <a:lstStyle/>
          <a:p>
            <a:pPr marL="0" indent="0" algn="ctr">
              <a:buNone/>
            </a:pPr>
            <a:r>
              <a:rPr lang="en-US" sz="1400" b="1" dirty="0">
                <a:solidFill>
                  <a:srgbClr val="221A3D"/>
                </a:solidFill>
                <a:latin typeface="Calibri" pitchFamily="34" charset="0"/>
                <a:ea typeface="Calibri" pitchFamily="34" charset="-122"/>
                <a:cs typeface="Calibri" pitchFamily="34" charset="-120"/>
              </a:rPr>
              <a:t>5.  Interpret</a:t>
            </a:r>
            <a:endParaRPr lang="en-US" sz="1400" dirty="0"/>
          </a:p>
        </p:txBody>
      </p:sp>
      <p:sp>
        <p:nvSpPr>
          <p:cNvPr id="29" name="Text 22"/>
          <p:cNvSpPr txBox="1"/>
          <p:nvPr/>
        </p:nvSpPr>
        <p:spPr>
          <a:xfrm>
            <a:off x="9482328" y="4270248"/>
            <a:ext cx="1901952" cy="1005840"/>
          </a:xfrm>
          <a:prstGeom prst="rect">
            <a:avLst/>
          </a:prstGeom>
          <a:noFill/>
          <a:ln/>
        </p:spPr>
        <p:txBody>
          <a:bodyPr wrap="square" lIns="0" tIns="0" rIns="0" bIns="0" rtlCol="0" anchor="ctr"/>
          <a:lstStyle/>
          <a:p>
            <a:pPr marL="0" indent="0" algn="ctr">
              <a:lnSpc>
                <a:spcPct val="120000"/>
              </a:lnSpc>
              <a:buNone/>
            </a:pPr>
            <a:r>
              <a:rPr lang="en-US" sz="1050" dirty="0">
                <a:solidFill>
                  <a:srgbClr val="746F92"/>
                </a:solidFill>
                <a:latin typeface="Calibri" pitchFamily="34" charset="0"/>
                <a:ea typeface="Calibri" pitchFamily="34" charset="-122"/>
                <a:cs typeface="Calibri" pitchFamily="34" charset="-120"/>
              </a:rPr>
              <a:t>Translate patterns into insights &amp; recommendations</a:t>
            </a:r>
            <a:endParaRPr lang="en-US" sz="1050" dirty="0"/>
          </a:p>
        </p:txBody>
      </p:sp>
      <p:sp>
        <p:nvSpPr>
          <p:cNvPr id="30" name="Shape 23"/>
          <p:cNvSpPr/>
          <p:nvPr/>
        </p:nvSpPr>
        <p:spPr>
          <a:xfrm>
            <a:off x="640080" y="5257800"/>
            <a:ext cx="10881360" cy="1051560"/>
          </a:xfrm>
          <a:prstGeom prst="roundRect">
            <a:avLst>
              <a:gd name="adj" fmla="val 7826"/>
            </a:avLst>
          </a:prstGeom>
          <a:solidFill>
            <a:srgbClr val="1B1235"/>
          </a:solidFill>
          <a:ln/>
        </p:spPr>
      </p:sp>
      <p:sp>
        <p:nvSpPr>
          <p:cNvPr id="31" name="Text 24"/>
          <p:cNvSpPr txBox="1"/>
          <p:nvPr/>
        </p:nvSpPr>
        <p:spPr>
          <a:xfrm>
            <a:off x="914400" y="5513832"/>
            <a:ext cx="1645920" cy="548640"/>
          </a:xfrm>
          <a:prstGeom prst="rect">
            <a:avLst/>
          </a:prstGeom>
          <a:noFill/>
          <a:ln/>
        </p:spPr>
        <p:txBody>
          <a:bodyPr wrap="square" lIns="0" tIns="0" rIns="0" bIns="0" rtlCol="0" anchor="ctr"/>
          <a:lstStyle/>
          <a:p>
            <a:pPr marL="0" indent="0">
              <a:buNone/>
            </a:pPr>
            <a:r>
              <a:rPr lang="en-US" sz="1200" b="1" kern="0" spc="150" dirty="0">
                <a:solidFill>
                  <a:srgbClr val="FF6B35"/>
                </a:solidFill>
                <a:latin typeface="Calibri" pitchFamily="34" charset="0"/>
                <a:ea typeface="Calibri" pitchFamily="34" charset="-122"/>
                <a:cs typeface="Calibri" pitchFamily="34" charset="-120"/>
              </a:rPr>
              <a:t>TOOLS USED</a:t>
            </a:r>
            <a:endParaRPr lang="en-US" sz="1200" dirty="0"/>
          </a:p>
        </p:txBody>
      </p:sp>
      <p:sp>
        <p:nvSpPr>
          <p:cNvPr id="32" name="Text 25"/>
          <p:cNvSpPr txBox="1"/>
          <p:nvPr/>
        </p:nvSpPr>
        <p:spPr>
          <a:xfrm>
            <a:off x="2651760" y="5532120"/>
            <a:ext cx="8595360" cy="5029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Python      •      pandas      •      NumPy      •      Power BI      •      Excel      •      Jupyter Notebook</a:t>
            </a:r>
            <a:endParaRPr lang="en-US" sz="1500" dirty="0"/>
          </a:p>
        </p:txBody>
      </p:sp>
      <p:sp>
        <p:nvSpPr>
          <p:cNvPr id="33" name="Text 26"/>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kern="0" spc="100" dirty="0">
                <a:solidFill>
                  <a:srgbClr val="746F92"/>
                </a:solidFill>
                <a:latin typeface="Calibri" pitchFamily="34" charset="0"/>
                <a:ea typeface="Calibri" pitchFamily="34" charset="-122"/>
                <a:cs typeface="Calibri" pitchFamily="34" charset="-120"/>
              </a:rPr>
              <a:t>FOOD DELIVERY ORDER &amp; DELIVERY PERFORMANCE ANALYSIS</a:t>
            </a:r>
            <a:endParaRPr lang="en-US" sz="900" dirty="0"/>
          </a:p>
        </p:txBody>
      </p:sp>
      <p:sp>
        <p:nvSpPr>
          <p:cNvPr id="34" name="Text 27"/>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F92"/>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6F5FB"/>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515600" cy="502920"/>
          </a:xfrm>
          <a:prstGeom prst="rect">
            <a:avLst/>
          </a:prstGeom>
          <a:noFill/>
          <a:ln/>
        </p:spPr>
        <p:txBody>
          <a:bodyPr wrap="square" lIns="0" tIns="0" rIns="0" bIns="0" rtlCol="0" anchor="ctr"/>
          <a:lstStyle/>
          <a:p>
            <a:pPr marL="0" indent="0">
              <a:buNone/>
            </a:pPr>
            <a:r>
              <a:rPr lang="en-US" sz="2700" b="1" dirty="0">
                <a:solidFill>
                  <a:srgbClr val="221A3D"/>
                </a:solidFill>
                <a:latin typeface="Cambria" pitchFamily="34" charset="0"/>
                <a:ea typeface="Cambria" pitchFamily="34" charset="-122"/>
                <a:cs typeface="Cambria" pitchFamily="34" charset="-120"/>
              </a:rPr>
              <a:t>Key Insights I — Orders, Revenue &amp; Cities</a:t>
            </a:r>
            <a:endParaRPr lang="en-US" sz="2700" dirty="0"/>
          </a:p>
        </p:txBody>
      </p:sp>
      <p:sp>
        <p:nvSpPr>
          <p:cNvPr id="3" name="Text 1"/>
          <p:cNvSpPr txBox="1"/>
          <p:nvPr/>
        </p:nvSpPr>
        <p:spPr>
          <a:xfrm>
            <a:off x="640080" y="950976"/>
            <a:ext cx="9601200" cy="320040"/>
          </a:xfrm>
          <a:prstGeom prst="rect">
            <a:avLst/>
          </a:prstGeom>
          <a:noFill/>
          <a:ln/>
        </p:spPr>
        <p:txBody>
          <a:bodyPr wrap="square" lIns="0" tIns="0" rIns="0" bIns="0" rtlCol="0" anchor="ctr"/>
          <a:lstStyle/>
          <a:p>
            <a:pPr marL="0" indent="0">
              <a:buNone/>
            </a:pPr>
            <a:r>
              <a:rPr lang="en-US" sz="1350" i="1" dirty="0">
                <a:solidFill>
                  <a:srgbClr val="746F92"/>
                </a:solidFill>
                <a:latin typeface="Calibri" pitchFamily="34" charset="0"/>
                <a:ea typeface="Calibri" pitchFamily="34" charset="-122"/>
                <a:cs typeface="Calibri" pitchFamily="34" charset="-120"/>
              </a:rPr>
              <a:t>Where the volume and the money are actually coming from</a:t>
            </a:r>
            <a:endParaRPr lang="en-US" sz="1350" dirty="0"/>
          </a:p>
        </p:txBody>
      </p:sp>
      <p:sp>
        <p:nvSpPr>
          <p:cNvPr id="4" name="Shape 2"/>
          <p:cNvSpPr/>
          <p:nvPr/>
        </p:nvSpPr>
        <p:spPr>
          <a:xfrm>
            <a:off x="640080" y="1417320"/>
            <a:ext cx="2569464" cy="960120"/>
          </a:xfrm>
          <a:prstGeom prst="roundRect">
            <a:avLst>
              <a:gd name="adj" fmla="val 7619"/>
            </a:avLst>
          </a:prstGeom>
          <a:solidFill>
            <a:srgbClr val="FFFFFF"/>
          </a:solidFill>
          <a:ln w="12700">
            <a:solidFill>
              <a:srgbClr val="E7E4F2"/>
            </a:solidFill>
            <a:prstDash val="solid"/>
          </a:ln>
        </p:spPr>
      </p:sp>
      <p:sp>
        <p:nvSpPr>
          <p:cNvPr id="5" name="Text 3"/>
          <p:cNvSpPr txBox="1"/>
          <p:nvPr/>
        </p:nvSpPr>
        <p:spPr>
          <a:xfrm>
            <a:off x="822960" y="1508760"/>
            <a:ext cx="2203704" cy="502920"/>
          </a:xfrm>
          <a:prstGeom prst="rect">
            <a:avLst/>
          </a:prstGeom>
          <a:noFill/>
          <a:ln/>
        </p:spPr>
        <p:txBody>
          <a:bodyPr wrap="square" lIns="0" tIns="0" rIns="0" bIns="0" rtlCol="0" anchor="ctr"/>
          <a:lstStyle/>
          <a:p>
            <a:pPr marL="0" indent="0">
              <a:buNone/>
            </a:pPr>
            <a:r>
              <a:rPr lang="en-US" sz="2400" b="1" dirty="0">
                <a:solidFill>
                  <a:srgbClr val="FF6B35"/>
                </a:solidFill>
                <a:latin typeface="Cambria" pitchFamily="34" charset="0"/>
                <a:ea typeface="Cambria" pitchFamily="34" charset="-122"/>
                <a:cs typeface="Cambria" pitchFamily="34" charset="-120"/>
              </a:rPr>
              <a:t>50,000</a:t>
            </a:r>
            <a:endParaRPr lang="en-US" sz="2400" dirty="0"/>
          </a:p>
        </p:txBody>
      </p:sp>
      <p:sp>
        <p:nvSpPr>
          <p:cNvPr id="6" name="Text 4"/>
          <p:cNvSpPr txBox="1"/>
          <p:nvPr/>
        </p:nvSpPr>
        <p:spPr>
          <a:xfrm>
            <a:off x="822960" y="2020824"/>
            <a:ext cx="2203704" cy="320040"/>
          </a:xfrm>
          <a:prstGeom prst="rect">
            <a:avLst/>
          </a:prstGeom>
          <a:noFill/>
          <a:ln/>
        </p:spPr>
        <p:txBody>
          <a:bodyPr wrap="square" lIns="0" tIns="0" rIns="0" bIns="0" rtlCol="0" anchor="ctr"/>
          <a:lstStyle/>
          <a:p>
            <a:pPr marL="0" indent="0">
              <a:lnSpc>
                <a:spcPct val="100000"/>
              </a:lnSpc>
              <a:buNone/>
            </a:pPr>
            <a:r>
              <a:rPr lang="en-US" sz="950" kern="0" spc="50" dirty="0">
                <a:solidFill>
                  <a:srgbClr val="746F92"/>
                </a:solidFill>
                <a:latin typeface="Calibri" pitchFamily="34" charset="0"/>
                <a:ea typeface="Calibri" pitchFamily="34" charset="-122"/>
                <a:cs typeface="Calibri" pitchFamily="34" charset="-120"/>
              </a:rPr>
              <a:t>TOTAL ORDERS</a:t>
            </a:r>
            <a:endParaRPr lang="en-US" sz="950" dirty="0"/>
          </a:p>
        </p:txBody>
      </p:sp>
      <p:sp>
        <p:nvSpPr>
          <p:cNvPr id="7" name="Shape 5"/>
          <p:cNvSpPr/>
          <p:nvPr/>
        </p:nvSpPr>
        <p:spPr>
          <a:xfrm>
            <a:off x="3410712" y="1417320"/>
            <a:ext cx="2569464" cy="960120"/>
          </a:xfrm>
          <a:prstGeom prst="roundRect">
            <a:avLst>
              <a:gd name="adj" fmla="val 7619"/>
            </a:avLst>
          </a:prstGeom>
          <a:solidFill>
            <a:srgbClr val="FFFFFF"/>
          </a:solidFill>
          <a:ln w="12700">
            <a:solidFill>
              <a:srgbClr val="E7E4F2"/>
            </a:solidFill>
            <a:prstDash val="solid"/>
          </a:ln>
        </p:spPr>
      </p:sp>
      <p:sp>
        <p:nvSpPr>
          <p:cNvPr id="8" name="Text 6"/>
          <p:cNvSpPr txBox="1"/>
          <p:nvPr/>
        </p:nvSpPr>
        <p:spPr>
          <a:xfrm>
            <a:off x="3593592" y="1508760"/>
            <a:ext cx="2203704" cy="502920"/>
          </a:xfrm>
          <a:prstGeom prst="rect">
            <a:avLst/>
          </a:prstGeom>
          <a:noFill/>
          <a:ln/>
        </p:spPr>
        <p:txBody>
          <a:bodyPr wrap="square" lIns="0" tIns="0" rIns="0" bIns="0" rtlCol="0" anchor="ctr"/>
          <a:lstStyle/>
          <a:p>
            <a:pPr marL="0" indent="0">
              <a:buNone/>
            </a:pPr>
            <a:r>
              <a:rPr lang="en-US" sz="2400" b="1" dirty="0">
                <a:solidFill>
                  <a:srgbClr val="2EC4B6"/>
                </a:solidFill>
                <a:latin typeface="Cambria" pitchFamily="34" charset="0"/>
                <a:ea typeface="Cambria" pitchFamily="34" charset="-122"/>
                <a:cs typeface="Cambria" pitchFamily="34" charset="-120"/>
              </a:rPr>
              <a:t>$1.91M</a:t>
            </a:r>
            <a:endParaRPr lang="en-US" sz="2400" dirty="0"/>
          </a:p>
        </p:txBody>
      </p:sp>
      <p:sp>
        <p:nvSpPr>
          <p:cNvPr id="9" name="Text 7"/>
          <p:cNvSpPr txBox="1"/>
          <p:nvPr/>
        </p:nvSpPr>
        <p:spPr>
          <a:xfrm>
            <a:off x="3593592" y="2020824"/>
            <a:ext cx="2203704" cy="320040"/>
          </a:xfrm>
          <a:prstGeom prst="rect">
            <a:avLst/>
          </a:prstGeom>
          <a:noFill/>
          <a:ln/>
        </p:spPr>
        <p:txBody>
          <a:bodyPr wrap="square" lIns="0" tIns="0" rIns="0" bIns="0" rtlCol="0" anchor="ctr"/>
          <a:lstStyle/>
          <a:p>
            <a:pPr marL="0" indent="0">
              <a:lnSpc>
                <a:spcPct val="100000"/>
              </a:lnSpc>
              <a:buNone/>
            </a:pPr>
            <a:r>
              <a:rPr lang="en-US" sz="950" kern="0" spc="50" dirty="0">
                <a:solidFill>
                  <a:srgbClr val="746F92"/>
                </a:solidFill>
                <a:latin typeface="Calibri" pitchFamily="34" charset="0"/>
                <a:ea typeface="Calibri" pitchFamily="34" charset="-122"/>
                <a:cs typeface="Calibri" pitchFamily="34" charset="-120"/>
              </a:rPr>
              <a:t>TOTAL REVENUE</a:t>
            </a:r>
            <a:endParaRPr lang="en-US" sz="950" dirty="0"/>
          </a:p>
        </p:txBody>
      </p:sp>
      <p:sp>
        <p:nvSpPr>
          <p:cNvPr id="10" name="Shape 8"/>
          <p:cNvSpPr/>
          <p:nvPr/>
        </p:nvSpPr>
        <p:spPr>
          <a:xfrm>
            <a:off x="6181344" y="1417320"/>
            <a:ext cx="2569464" cy="960120"/>
          </a:xfrm>
          <a:prstGeom prst="roundRect">
            <a:avLst>
              <a:gd name="adj" fmla="val 7619"/>
            </a:avLst>
          </a:prstGeom>
          <a:solidFill>
            <a:srgbClr val="FFFFFF"/>
          </a:solidFill>
          <a:ln w="12700">
            <a:solidFill>
              <a:srgbClr val="E7E4F2"/>
            </a:solidFill>
            <a:prstDash val="solid"/>
          </a:ln>
        </p:spPr>
      </p:sp>
      <p:sp>
        <p:nvSpPr>
          <p:cNvPr id="11" name="Text 9"/>
          <p:cNvSpPr txBox="1"/>
          <p:nvPr/>
        </p:nvSpPr>
        <p:spPr>
          <a:xfrm>
            <a:off x="6364224" y="1508760"/>
            <a:ext cx="2203704" cy="502920"/>
          </a:xfrm>
          <a:prstGeom prst="rect">
            <a:avLst/>
          </a:prstGeom>
          <a:noFill/>
          <a:ln/>
        </p:spPr>
        <p:txBody>
          <a:bodyPr wrap="square" lIns="0" tIns="0" rIns="0" bIns="0" rtlCol="0" anchor="ctr"/>
          <a:lstStyle/>
          <a:p>
            <a:pPr marL="0" indent="0">
              <a:buNone/>
            </a:pPr>
            <a:r>
              <a:rPr lang="en-US" sz="2400" b="1" dirty="0">
                <a:solidFill>
                  <a:srgbClr val="FF6B35"/>
                </a:solidFill>
                <a:latin typeface="Cambria" pitchFamily="34" charset="0"/>
                <a:ea typeface="Cambria" pitchFamily="34" charset="-122"/>
                <a:cs typeface="Cambria" pitchFamily="34" charset="-120"/>
              </a:rPr>
              <a:t>$38.17</a:t>
            </a:r>
            <a:endParaRPr lang="en-US" sz="2400" dirty="0"/>
          </a:p>
        </p:txBody>
      </p:sp>
      <p:sp>
        <p:nvSpPr>
          <p:cNvPr id="12" name="Text 10"/>
          <p:cNvSpPr txBox="1"/>
          <p:nvPr/>
        </p:nvSpPr>
        <p:spPr>
          <a:xfrm>
            <a:off x="6364224" y="2020824"/>
            <a:ext cx="2203704" cy="320040"/>
          </a:xfrm>
          <a:prstGeom prst="rect">
            <a:avLst/>
          </a:prstGeom>
          <a:noFill/>
          <a:ln/>
        </p:spPr>
        <p:txBody>
          <a:bodyPr wrap="square" lIns="0" tIns="0" rIns="0" bIns="0" rtlCol="0" anchor="ctr"/>
          <a:lstStyle/>
          <a:p>
            <a:pPr marL="0" indent="0">
              <a:lnSpc>
                <a:spcPct val="100000"/>
              </a:lnSpc>
              <a:buNone/>
            </a:pPr>
            <a:r>
              <a:rPr lang="en-US" sz="950" kern="0" spc="50" dirty="0">
                <a:solidFill>
                  <a:srgbClr val="746F92"/>
                </a:solidFill>
                <a:latin typeface="Calibri" pitchFamily="34" charset="0"/>
                <a:ea typeface="Calibri" pitchFamily="34" charset="-122"/>
                <a:cs typeface="Calibri" pitchFamily="34" charset="-120"/>
              </a:rPr>
              <a:t>AVG. ORDER VALUE</a:t>
            </a:r>
            <a:endParaRPr lang="en-US" sz="950" dirty="0"/>
          </a:p>
        </p:txBody>
      </p:sp>
      <p:sp>
        <p:nvSpPr>
          <p:cNvPr id="13" name="Shape 11"/>
          <p:cNvSpPr/>
          <p:nvPr/>
        </p:nvSpPr>
        <p:spPr>
          <a:xfrm>
            <a:off x="8951976" y="1417320"/>
            <a:ext cx="2569464" cy="960120"/>
          </a:xfrm>
          <a:prstGeom prst="roundRect">
            <a:avLst>
              <a:gd name="adj" fmla="val 7619"/>
            </a:avLst>
          </a:prstGeom>
          <a:solidFill>
            <a:srgbClr val="FFFFFF"/>
          </a:solidFill>
          <a:ln w="12700">
            <a:solidFill>
              <a:srgbClr val="E7E4F2"/>
            </a:solidFill>
            <a:prstDash val="solid"/>
          </a:ln>
        </p:spPr>
      </p:sp>
      <p:sp>
        <p:nvSpPr>
          <p:cNvPr id="14" name="Text 12"/>
          <p:cNvSpPr txBox="1"/>
          <p:nvPr/>
        </p:nvSpPr>
        <p:spPr>
          <a:xfrm>
            <a:off x="9134856" y="1508760"/>
            <a:ext cx="2203704" cy="502920"/>
          </a:xfrm>
          <a:prstGeom prst="rect">
            <a:avLst/>
          </a:prstGeom>
          <a:noFill/>
          <a:ln/>
        </p:spPr>
        <p:txBody>
          <a:bodyPr wrap="square" lIns="0" tIns="0" rIns="0" bIns="0" rtlCol="0" anchor="ctr"/>
          <a:lstStyle/>
          <a:p>
            <a:pPr marL="0" indent="0">
              <a:buNone/>
            </a:pPr>
            <a:r>
              <a:rPr lang="en-US" sz="2400" b="1" dirty="0">
                <a:solidFill>
                  <a:srgbClr val="2EC4B6"/>
                </a:solidFill>
                <a:latin typeface="Cambria" pitchFamily="34" charset="0"/>
                <a:ea typeface="Cambria" pitchFamily="34" charset="-122"/>
                <a:cs typeface="Cambria" pitchFamily="34" charset="-120"/>
              </a:rPr>
              <a:t>98.3%</a:t>
            </a:r>
            <a:endParaRPr lang="en-US" sz="2400" dirty="0"/>
          </a:p>
        </p:txBody>
      </p:sp>
      <p:sp>
        <p:nvSpPr>
          <p:cNvPr id="15" name="Text 13"/>
          <p:cNvSpPr txBox="1"/>
          <p:nvPr/>
        </p:nvSpPr>
        <p:spPr>
          <a:xfrm>
            <a:off x="9134856" y="2020824"/>
            <a:ext cx="2203704" cy="320040"/>
          </a:xfrm>
          <a:prstGeom prst="rect">
            <a:avLst/>
          </a:prstGeom>
          <a:noFill/>
          <a:ln/>
        </p:spPr>
        <p:txBody>
          <a:bodyPr wrap="square" lIns="0" tIns="0" rIns="0" bIns="0" rtlCol="0" anchor="ctr"/>
          <a:lstStyle/>
          <a:p>
            <a:pPr marL="0" indent="0">
              <a:lnSpc>
                <a:spcPct val="100000"/>
              </a:lnSpc>
              <a:buNone/>
            </a:pPr>
            <a:r>
              <a:rPr lang="en-US" sz="950" kern="0" spc="50" dirty="0">
                <a:solidFill>
                  <a:srgbClr val="746F92"/>
                </a:solidFill>
                <a:latin typeface="Calibri" pitchFamily="34" charset="0"/>
                <a:ea typeface="Calibri" pitchFamily="34" charset="-122"/>
                <a:cs typeface="Calibri" pitchFamily="34" charset="-120"/>
              </a:rPr>
              <a:t>ORDER COMPLETION RATE</a:t>
            </a:r>
            <a:endParaRPr lang="en-US" sz="950" dirty="0"/>
          </a:p>
        </p:txBody>
      </p:sp>
      <p:sp>
        <p:nvSpPr>
          <p:cNvPr id="16" name="Shape 14"/>
          <p:cNvSpPr/>
          <p:nvPr/>
        </p:nvSpPr>
        <p:spPr>
          <a:xfrm>
            <a:off x="640080" y="2606040"/>
            <a:ext cx="5532120" cy="3246120"/>
          </a:xfrm>
          <a:prstGeom prst="roundRect">
            <a:avLst>
              <a:gd name="adj" fmla="val 2535"/>
            </a:avLst>
          </a:prstGeom>
          <a:solidFill>
            <a:srgbClr val="FFFFFF"/>
          </a:solidFill>
          <a:ln w="12700">
            <a:solidFill>
              <a:srgbClr val="E7E4F2"/>
            </a:solidFill>
            <a:prstDash val="solid"/>
          </a:ln>
        </p:spPr>
      </p:sp>
      <p:graphicFrame>
        <p:nvGraphicFramePr>
          <p:cNvPr id="17" name="Chart 0"/>
          <p:cNvGraphicFramePr/>
          <p:nvPr/>
        </p:nvGraphicFramePr>
        <p:xfrm>
          <a:off x="822960" y="2770632"/>
          <a:ext cx="5166360" cy="256032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 15"/>
          <p:cNvSpPr txBox="1"/>
          <p:nvPr/>
        </p:nvSpPr>
        <p:spPr>
          <a:xfrm>
            <a:off x="868680" y="5349240"/>
            <a:ext cx="5029200" cy="411480"/>
          </a:xfrm>
          <a:prstGeom prst="rect">
            <a:avLst/>
          </a:prstGeom>
          <a:noFill/>
          <a:ln/>
        </p:spPr>
        <p:txBody>
          <a:bodyPr wrap="square" lIns="0" tIns="0" rIns="0" bIns="0" rtlCol="0" anchor="ctr"/>
          <a:lstStyle/>
          <a:p>
            <a:pPr marL="0" indent="0">
              <a:lnSpc>
                <a:spcPct val="110000"/>
              </a:lnSpc>
              <a:buNone/>
            </a:pPr>
            <a:r>
              <a:rPr lang="en-US" sz="1000" i="1" dirty="0">
                <a:solidFill>
                  <a:srgbClr val="746F92"/>
                </a:solidFill>
                <a:latin typeface="Calibri" pitchFamily="34" charset="0"/>
                <a:ea typeface="Calibri" pitchFamily="34" charset="-122"/>
                <a:cs typeface="Calibri" pitchFamily="34" charset="-120"/>
              </a:rPr>
              <a:t>City_A alone drives nearly 40% of all orders and revenue — the clearest market to protect.</a:t>
            </a:r>
            <a:endParaRPr lang="en-US" sz="1000" dirty="0"/>
          </a:p>
        </p:txBody>
      </p:sp>
      <p:sp>
        <p:nvSpPr>
          <p:cNvPr id="19" name="Shape 16"/>
          <p:cNvSpPr/>
          <p:nvPr/>
        </p:nvSpPr>
        <p:spPr>
          <a:xfrm>
            <a:off x="6400800" y="2606040"/>
            <a:ext cx="5166360" cy="3246120"/>
          </a:xfrm>
          <a:prstGeom prst="roundRect">
            <a:avLst>
              <a:gd name="adj" fmla="val 2535"/>
            </a:avLst>
          </a:prstGeom>
          <a:solidFill>
            <a:srgbClr val="FFFFFF"/>
          </a:solidFill>
          <a:ln w="12700">
            <a:solidFill>
              <a:srgbClr val="E7E4F2"/>
            </a:solidFill>
            <a:prstDash val="solid"/>
          </a:ln>
        </p:spPr>
      </p:sp>
      <p:graphicFrame>
        <p:nvGraphicFramePr>
          <p:cNvPr id="20" name="Chart 1"/>
          <p:cNvGraphicFramePr/>
          <p:nvPr/>
        </p:nvGraphicFramePr>
        <p:xfrm>
          <a:off x="6720840" y="2770632"/>
          <a:ext cx="4572000" cy="2194560"/>
        </p:xfrm>
        <a:graphic>
          <a:graphicData uri="http://schemas.openxmlformats.org/drawingml/2006/chart">
            <c:chart xmlns:c="http://schemas.openxmlformats.org/drawingml/2006/chart" xmlns:r="http://schemas.openxmlformats.org/officeDocument/2006/relationships" r:id="rId4"/>
          </a:graphicData>
        </a:graphic>
      </p:graphicFrame>
      <p:sp>
        <p:nvSpPr>
          <p:cNvPr id="21" name="Text 17"/>
          <p:cNvSpPr txBox="1"/>
          <p:nvPr/>
        </p:nvSpPr>
        <p:spPr>
          <a:xfrm>
            <a:off x="6629400" y="5349240"/>
            <a:ext cx="4709160" cy="411480"/>
          </a:xfrm>
          <a:prstGeom prst="rect">
            <a:avLst/>
          </a:prstGeom>
          <a:noFill/>
          <a:ln/>
        </p:spPr>
        <p:txBody>
          <a:bodyPr wrap="square" lIns="0" tIns="0" rIns="0" bIns="0" rtlCol="0" anchor="ctr"/>
          <a:lstStyle/>
          <a:p>
            <a:pPr marL="0" indent="0">
              <a:lnSpc>
                <a:spcPct val="110000"/>
              </a:lnSpc>
              <a:buNone/>
            </a:pPr>
            <a:r>
              <a:rPr lang="en-US" sz="1000" i="1" dirty="0">
                <a:solidFill>
                  <a:srgbClr val="746F92"/>
                </a:solidFill>
                <a:latin typeface="Calibri" pitchFamily="34" charset="0"/>
                <a:ea typeface="Calibri" pitchFamily="34" charset="-122"/>
                <a:cs typeface="Calibri" pitchFamily="34" charset="-120"/>
              </a:rPr>
              <a:t>Fast Food accounts for 55% of orders — speed and convenience clearly win in this market.</a:t>
            </a:r>
            <a:endParaRPr lang="en-US" sz="1000" dirty="0"/>
          </a:p>
        </p:txBody>
      </p:sp>
      <p:sp>
        <p:nvSpPr>
          <p:cNvPr id="22" name="Text 18"/>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kern="0" spc="100" dirty="0">
                <a:solidFill>
                  <a:srgbClr val="746F92"/>
                </a:solidFill>
                <a:latin typeface="Calibri" pitchFamily="34" charset="0"/>
                <a:ea typeface="Calibri" pitchFamily="34" charset="-122"/>
                <a:cs typeface="Calibri" pitchFamily="34" charset="-120"/>
              </a:rPr>
              <a:t>FOOD DELIVERY ORDER &amp; DELIVERY PERFORMANCE ANALYSIS</a:t>
            </a:r>
            <a:endParaRPr lang="en-US" sz="900" dirty="0"/>
          </a:p>
        </p:txBody>
      </p:sp>
      <p:sp>
        <p:nvSpPr>
          <p:cNvPr id="23" name="Text 19"/>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F92"/>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6F5FB"/>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515600" cy="502920"/>
          </a:xfrm>
          <a:prstGeom prst="rect">
            <a:avLst/>
          </a:prstGeom>
          <a:noFill/>
          <a:ln/>
        </p:spPr>
        <p:txBody>
          <a:bodyPr wrap="square" lIns="0" tIns="0" rIns="0" bIns="0" rtlCol="0" anchor="ctr"/>
          <a:lstStyle/>
          <a:p>
            <a:pPr marL="0" indent="0">
              <a:buNone/>
            </a:pPr>
            <a:r>
              <a:rPr lang="en-US" sz="2700" b="1" dirty="0">
                <a:solidFill>
                  <a:srgbClr val="221A3D"/>
                </a:solidFill>
                <a:latin typeface="Cambria" pitchFamily="34" charset="0"/>
                <a:ea typeface="Cambria" pitchFamily="34" charset="-122"/>
                <a:cs typeface="Cambria" pitchFamily="34" charset="-120"/>
              </a:rPr>
              <a:t>Key Insights II — Delivery &amp; Cancellations</a:t>
            </a:r>
            <a:endParaRPr lang="en-US" sz="2700" dirty="0"/>
          </a:p>
        </p:txBody>
      </p:sp>
      <p:sp>
        <p:nvSpPr>
          <p:cNvPr id="3" name="Text 1"/>
          <p:cNvSpPr txBox="1"/>
          <p:nvPr/>
        </p:nvSpPr>
        <p:spPr>
          <a:xfrm>
            <a:off x="640080" y="950976"/>
            <a:ext cx="9601200" cy="320040"/>
          </a:xfrm>
          <a:prstGeom prst="rect">
            <a:avLst/>
          </a:prstGeom>
          <a:noFill/>
          <a:ln/>
        </p:spPr>
        <p:txBody>
          <a:bodyPr wrap="square" lIns="0" tIns="0" rIns="0" bIns="0" rtlCol="0" anchor="ctr"/>
          <a:lstStyle/>
          <a:p>
            <a:pPr marL="0" indent="0">
              <a:buNone/>
            </a:pPr>
            <a:r>
              <a:rPr lang="en-US" sz="1350" i="1" dirty="0">
                <a:solidFill>
                  <a:srgbClr val="746F92"/>
                </a:solidFill>
                <a:latin typeface="Calibri" pitchFamily="34" charset="0"/>
                <a:ea typeface="Calibri" pitchFamily="34" charset="-122"/>
                <a:cs typeface="Calibri" pitchFamily="34" charset="-120"/>
              </a:rPr>
              <a:t>Where delays happen, and why orders get cancelled</a:t>
            </a:r>
            <a:endParaRPr lang="en-US" sz="1350" dirty="0"/>
          </a:p>
        </p:txBody>
      </p:sp>
      <p:sp>
        <p:nvSpPr>
          <p:cNvPr id="4" name="Shape 2"/>
          <p:cNvSpPr/>
          <p:nvPr/>
        </p:nvSpPr>
        <p:spPr>
          <a:xfrm>
            <a:off x="640080" y="1417320"/>
            <a:ext cx="2569464" cy="960120"/>
          </a:xfrm>
          <a:prstGeom prst="roundRect">
            <a:avLst>
              <a:gd name="adj" fmla="val 7619"/>
            </a:avLst>
          </a:prstGeom>
          <a:solidFill>
            <a:srgbClr val="FFFFFF"/>
          </a:solidFill>
          <a:ln w="12700">
            <a:solidFill>
              <a:srgbClr val="E7E4F2"/>
            </a:solidFill>
            <a:prstDash val="solid"/>
          </a:ln>
        </p:spPr>
      </p:sp>
      <p:sp>
        <p:nvSpPr>
          <p:cNvPr id="5" name="Text 3"/>
          <p:cNvSpPr txBox="1"/>
          <p:nvPr/>
        </p:nvSpPr>
        <p:spPr>
          <a:xfrm>
            <a:off x="822960" y="1508760"/>
            <a:ext cx="2203704" cy="502920"/>
          </a:xfrm>
          <a:prstGeom prst="rect">
            <a:avLst/>
          </a:prstGeom>
          <a:noFill/>
          <a:ln/>
        </p:spPr>
        <p:txBody>
          <a:bodyPr wrap="square" lIns="0" tIns="0" rIns="0" bIns="0" rtlCol="0" anchor="ctr"/>
          <a:lstStyle/>
          <a:p>
            <a:pPr marL="0" indent="0">
              <a:buNone/>
            </a:pPr>
            <a:r>
              <a:rPr lang="en-US" sz="2400" b="1" dirty="0">
                <a:solidFill>
                  <a:srgbClr val="2EC4B6"/>
                </a:solidFill>
                <a:latin typeface="Cambria" pitchFamily="34" charset="0"/>
                <a:ea typeface="Cambria" pitchFamily="34" charset="-122"/>
                <a:cs typeface="Cambria" pitchFamily="34" charset="-120"/>
              </a:rPr>
              <a:t>35.1 min</a:t>
            </a:r>
            <a:endParaRPr lang="en-US" sz="2400" dirty="0"/>
          </a:p>
        </p:txBody>
      </p:sp>
      <p:sp>
        <p:nvSpPr>
          <p:cNvPr id="6" name="Text 4"/>
          <p:cNvSpPr txBox="1"/>
          <p:nvPr/>
        </p:nvSpPr>
        <p:spPr>
          <a:xfrm>
            <a:off x="822960" y="2020824"/>
            <a:ext cx="2203704" cy="320040"/>
          </a:xfrm>
          <a:prstGeom prst="rect">
            <a:avLst/>
          </a:prstGeom>
          <a:noFill/>
          <a:ln/>
        </p:spPr>
        <p:txBody>
          <a:bodyPr wrap="square" lIns="0" tIns="0" rIns="0" bIns="0" rtlCol="0" anchor="ctr"/>
          <a:lstStyle/>
          <a:p>
            <a:pPr marL="0" indent="0">
              <a:lnSpc>
                <a:spcPct val="100000"/>
              </a:lnSpc>
              <a:buNone/>
            </a:pPr>
            <a:r>
              <a:rPr lang="en-US" sz="950" kern="0" spc="50" dirty="0">
                <a:solidFill>
                  <a:srgbClr val="746F92"/>
                </a:solidFill>
                <a:latin typeface="Calibri" pitchFamily="34" charset="0"/>
                <a:ea typeface="Calibri" pitchFamily="34" charset="-122"/>
                <a:cs typeface="Calibri" pitchFamily="34" charset="-120"/>
              </a:rPr>
              <a:t>AVG. DELIVERY TIME</a:t>
            </a:r>
            <a:endParaRPr lang="en-US" sz="950" dirty="0"/>
          </a:p>
        </p:txBody>
      </p:sp>
      <p:sp>
        <p:nvSpPr>
          <p:cNvPr id="7" name="Shape 5"/>
          <p:cNvSpPr/>
          <p:nvPr/>
        </p:nvSpPr>
        <p:spPr>
          <a:xfrm>
            <a:off x="3410712" y="1417320"/>
            <a:ext cx="2569464" cy="960120"/>
          </a:xfrm>
          <a:prstGeom prst="roundRect">
            <a:avLst>
              <a:gd name="adj" fmla="val 7619"/>
            </a:avLst>
          </a:prstGeom>
          <a:solidFill>
            <a:srgbClr val="FFFFFF"/>
          </a:solidFill>
          <a:ln w="12700">
            <a:solidFill>
              <a:srgbClr val="E7E4F2"/>
            </a:solidFill>
            <a:prstDash val="solid"/>
          </a:ln>
        </p:spPr>
      </p:sp>
      <p:sp>
        <p:nvSpPr>
          <p:cNvPr id="8" name="Text 6"/>
          <p:cNvSpPr txBox="1"/>
          <p:nvPr/>
        </p:nvSpPr>
        <p:spPr>
          <a:xfrm>
            <a:off x="3593592" y="1508760"/>
            <a:ext cx="2203704" cy="502920"/>
          </a:xfrm>
          <a:prstGeom prst="rect">
            <a:avLst/>
          </a:prstGeom>
          <a:noFill/>
          <a:ln/>
        </p:spPr>
        <p:txBody>
          <a:bodyPr wrap="square" lIns="0" tIns="0" rIns="0" bIns="0" rtlCol="0" anchor="ctr"/>
          <a:lstStyle/>
          <a:p>
            <a:pPr marL="0" indent="0">
              <a:buNone/>
            </a:pPr>
            <a:r>
              <a:rPr lang="en-US" sz="2400" b="1" dirty="0">
                <a:solidFill>
                  <a:srgbClr val="FF6B35"/>
                </a:solidFill>
                <a:latin typeface="Cambria" pitchFamily="34" charset="0"/>
                <a:ea typeface="Cambria" pitchFamily="34" charset="-122"/>
                <a:cs typeface="Cambria" pitchFamily="34" charset="-120"/>
              </a:rPr>
              <a:t>35.9%</a:t>
            </a:r>
            <a:endParaRPr lang="en-US" sz="2400" dirty="0"/>
          </a:p>
        </p:txBody>
      </p:sp>
      <p:sp>
        <p:nvSpPr>
          <p:cNvPr id="9" name="Text 7"/>
          <p:cNvSpPr txBox="1"/>
          <p:nvPr/>
        </p:nvSpPr>
        <p:spPr>
          <a:xfrm>
            <a:off x="3593592" y="2020824"/>
            <a:ext cx="2203704" cy="320040"/>
          </a:xfrm>
          <a:prstGeom prst="rect">
            <a:avLst/>
          </a:prstGeom>
          <a:noFill/>
          <a:ln/>
        </p:spPr>
        <p:txBody>
          <a:bodyPr wrap="square" lIns="0" tIns="0" rIns="0" bIns="0" rtlCol="0" anchor="ctr"/>
          <a:lstStyle/>
          <a:p>
            <a:pPr marL="0" indent="0">
              <a:lnSpc>
                <a:spcPct val="100000"/>
              </a:lnSpc>
              <a:buNone/>
            </a:pPr>
            <a:r>
              <a:rPr lang="en-US" sz="950" kern="0" spc="50" dirty="0">
                <a:solidFill>
                  <a:srgbClr val="746F92"/>
                </a:solidFill>
                <a:latin typeface="Calibri" pitchFamily="34" charset="0"/>
                <a:ea typeface="Calibri" pitchFamily="34" charset="-122"/>
                <a:cs typeface="Calibri" pitchFamily="34" charset="-120"/>
              </a:rPr>
              <a:t>LATE DELIVERY RATE</a:t>
            </a:r>
            <a:endParaRPr lang="en-US" sz="950" dirty="0"/>
          </a:p>
        </p:txBody>
      </p:sp>
      <p:sp>
        <p:nvSpPr>
          <p:cNvPr id="10" name="Shape 8"/>
          <p:cNvSpPr/>
          <p:nvPr/>
        </p:nvSpPr>
        <p:spPr>
          <a:xfrm>
            <a:off x="6181344" y="1417320"/>
            <a:ext cx="2569464" cy="960120"/>
          </a:xfrm>
          <a:prstGeom prst="roundRect">
            <a:avLst>
              <a:gd name="adj" fmla="val 7619"/>
            </a:avLst>
          </a:prstGeom>
          <a:solidFill>
            <a:srgbClr val="FFFFFF"/>
          </a:solidFill>
          <a:ln w="12700">
            <a:solidFill>
              <a:srgbClr val="E7E4F2"/>
            </a:solidFill>
            <a:prstDash val="solid"/>
          </a:ln>
        </p:spPr>
      </p:sp>
      <p:sp>
        <p:nvSpPr>
          <p:cNvPr id="11" name="Text 9"/>
          <p:cNvSpPr txBox="1"/>
          <p:nvPr/>
        </p:nvSpPr>
        <p:spPr>
          <a:xfrm>
            <a:off x="6364224" y="1508760"/>
            <a:ext cx="2203704" cy="502920"/>
          </a:xfrm>
          <a:prstGeom prst="rect">
            <a:avLst/>
          </a:prstGeom>
          <a:noFill/>
          <a:ln/>
        </p:spPr>
        <p:txBody>
          <a:bodyPr wrap="square" lIns="0" tIns="0" rIns="0" bIns="0" rtlCol="0" anchor="ctr"/>
          <a:lstStyle/>
          <a:p>
            <a:pPr marL="0" indent="0">
              <a:buNone/>
            </a:pPr>
            <a:r>
              <a:rPr lang="en-US" sz="2400" b="1" dirty="0">
                <a:solidFill>
                  <a:srgbClr val="FF6B35"/>
                </a:solidFill>
                <a:latin typeface="Cambria" pitchFamily="34" charset="0"/>
                <a:ea typeface="Cambria" pitchFamily="34" charset="-122"/>
                <a:cs typeface="Cambria" pitchFamily="34" charset="-120"/>
              </a:rPr>
              <a:t>1.74%</a:t>
            </a:r>
            <a:endParaRPr lang="en-US" sz="2400" dirty="0"/>
          </a:p>
        </p:txBody>
      </p:sp>
      <p:sp>
        <p:nvSpPr>
          <p:cNvPr id="12" name="Text 10"/>
          <p:cNvSpPr txBox="1"/>
          <p:nvPr/>
        </p:nvSpPr>
        <p:spPr>
          <a:xfrm>
            <a:off x="6364224" y="2020824"/>
            <a:ext cx="2203704" cy="320040"/>
          </a:xfrm>
          <a:prstGeom prst="rect">
            <a:avLst/>
          </a:prstGeom>
          <a:noFill/>
          <a:ln/>
        </p:spPr>
        <p:txBody>
          <a:bodyPr wrap="square" lIns="0" tIns="0" rIns="0" bIns="0" rtlCol="0" anchor="ctr"/>
          <a:lstStyle/>
          <a:p>
            <a:pPr marL="0" indent="0">
              <a:lnSpc>
                <a:spcPct val="100000"/>
              </a:lnSpc>
              <a:buNone/>
            </a:pPr>
            <a:r>
              <a:rPr lang="en-US" sz="950" kern="0" spc="50" dirty="0">
                <a:solidFill>
                  <a:srgbClr val="746F92"/>
                </a:solidFill>
                <a:latin typeface="Calibri" pitchFamily="34" charset="0"/>
                <a:ea typeface="Calibri" pitchFamily="34" charset="-122"/>
                <a:cs typeface="Calibri" pitchFamily="34" charset="-120"/>
              </a:rPr>
              <a:t>CANCELLATION RATE</a:t>
            </a:r>
            <a:endParaRPr lang="en-US" sz="950" dirty="0"/>
          </a:p>
        </p:txBody>
      </p:sp>
      <p:sp>
        <p:nvSpPr>
          <p:cNvPr id="13" name="Shape 11"/>
          <p:cNvSpPr/>
          <p:nvPr/>
        </p:nvSpPr>
        <p:spPr>
          <a:xfrm>
            <a:off x="8951976" y="1417320"/>
            <a:ext cx="2569464" cy="960120"/>
          </a:xfrm>
          <a:prstGeom prst="roundRect">
            <a:avLst>
              <a:gd name="adj" fmla="val 7619"/>
            </a:avLst>
          </a:prstGeom>
          <a:solidFill>
            <a:srgbClr val="FFFFFF"/>
          </a:solidFill>
          <a:ln w="12700">
            <a:solidFill>
              <a:srgbClr val="E7E4F2"/>
            </a:solidFill>
            <a:prstDash val="solid"/>
          </a:ln>
        </p:spPr>
      </p:sp>
      <p:sp>
        <p:nvSpPr>
          <p:cNvPr id="14" name="Text 12"/>
          <p:cNvSpPr txBox="1"/>
          <p:nvPr/>
        </p:nvSpPr>
        <p:spPr>
          <a:xfrm>
            <a:off x="9134856" y="1508760"/>
            <a:ext cx="2203704" cy="502920"/>
          </a:xfrm>
          <a:prstGeom prst="rect">
            <a:avLst/>
          </a:prstGeom>
          <a:noFill/>
          <a:ln/>
        </p:spPr>
        <p:txBody>
          <a:bodyPr wrap="square" lIns="0" tIns="0" rIns="0" bIns="0" rtlCol="0" anchor="ctr"/>
          <a:lstStyle/>
          <a:p>
            <a:pPr marL="0" indent="0">
              <a:buNone/>
            </a:pPr>
            <a:r>
              <a:rPr lang="en-US" sz="2400" b="1" dirty="0">
                <a:solidFill>
                  <a:srgbClr val="2EC4B6"/>
                </a:solidFill>
                <a:latin typeface="Cambria" pitchFamily="34" charset="0"/>
                <a:ea typeface="Cambria" pitchFamily="34" charset="-122"/>
                <a:cs typeface="Cambria" pitchFamily="34" charset="-120"/>
              </a:rPr>
              <a:t>4.7 km</a:t>
            </a:r>
            <a:endParaRPr lang="en-US" sz="2400" dirty="0"/>
          </a:p>
        </p:txBody>
      </p:sp>
      <p:sp>
        <p:nvSpPr>
          <p:cNvPr id="15" name="Text 13"/>
          <p:cNvSpPr txBox="1"/>
          <p:nvPr/>
        </p:nvSpPr>
        <p:spPr>
          <a:xfrm>
            <a:off x="9134856" y="2020824"/>
            <a:ext cx="2203704" cy="320040"/>
          </a:xfrm>
          <a:prstGeom prst="rect">
            <a:avLst/>
          </a:prstGeom>
          <a:noFill/>
          <a:ln/>
        </p:spPr>
        <p:txBody>
          <a:bodyPr wrap="square" lIns="0" tIns="0" rIns="0" bIns="0" rtlCol="0" anchor="ctr"/>
          <a:lstStyle/>
          <a:p>
            <a:pPr marL="0" indent="0">
              <a:lnSpc>
                <a:spcPct val="100000"/>
              </a:lnSpc>
              <a:buNone/>
            </a:pPr>
            <a:r>
              <a:rPr lang="en-US" sz="950" kern="0" spc="50" dirty="0">
                <a:solidFill>
                  <a:srgbClr val="746F92"/>
                </a:solidFill>
                <a:latin typeface="Calibri" pitchFamily="34" charset="0"/>
                <a:ea typeface="Calibri" pitchFamily="34" charset="-122"/>
                <a:cs typeface="Calibri" pitchFamily="34" charset="-120"/>
              </a:rPr>
              <a:t>AVG. DELIVERY DISTANCE</a:t>
            </a:r>
            <a:endParaRPr lang="en-US" sz="950" dirty="0"/>
          </a:p>
        </p:txBody>
      </p:sp>
      <p:sp>
        <p:nvSpPr>
          <p:cNvPr id="16" name="Shape 14"/>
          <p:cNvSpPr/>
          <p:nvPr/>
        </p:nvSpPr>
        <p:spPr>
          <a:xfrm>
            <a:off x="640080" y="2606040"/>
            <a:ext cx="5532120" cy="3246120"/>
          </a:xfrm>
          <a:prstGeom prst="roundRect">
            <a:avLst>
              <a:gd name="adj" fmla="val 2535"/>
            </a:avLst>
          </a:prstGeom>
          <a:solidFill>
            <a:srgbClr val="FFFFFF"/>
          </a:solidFill>
          <a:ln w="12700">
            <a:solidFill>
              <a:srgbClr val="E7E4F2"/>
            </a:solidFill>
            <a:prstDash val="solid"/>
          </a:ln>
        </p:spPr>
      </p:sp>
      <p:graphicFrame>
        <p:nvGraphicFramePr>
          <p:cNvPr id="17" name="Chart 0"/>
          <p:cNvGraphicFramePr/>
          <p:nvPr/>
        </p:nvGraphicFramePr>
        <p:xfrm>
          <a:off x="822960" y="2770632"/>
          <a:ext cx="5166360" cy="256032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 15"/>
          <p:cNvSpPr txBox="1"/>
          <p:nvPr/>
        </p:nvSpPr>
        <p:spPr>
          <a:xfrm>
            <a:off x="868680" y="5303520"/>
            <a:ext cx="5029200" cy="502920"/>
          </a:xfrm>
          <a:prstGeom prst="rect">
            <a:avLst/>
          </a:prstGeom>
          <a:noFill/>
          <a:ln/>
        </p:spPr>
        <p:txBody>
          <a:bodyPr wrap="square" lIns="0" tIns="0" rIns="0" bIns="0" rtlCol="0" anchor="ctr"/>
          <a:lstStyle/>
          <a:p>
            <a:pPr marL="0" indent="0">
              <a:lnSpc>
                <a:spcPct val="110000"/>
              </a:lnSpc>
              <a:buNone/>
            </a:pPr>
            <a:r>
              <a:rPr lang="en-US" sz="1000" i="1" dirty="0">
                <a:solidFill>
                  <a:srgbClr val="746F92"/>
                </a:solidFill>
                <a:latin typeface="Calibri" pitchFamily="34" charset="0"/>
                <a:ea typeface="Calibri" pitchFamily="34" charset="-122"/>
                <a:cs typeface="Calibri" pitchFamily="34" charset="-120"/>
              </a:rPr>
              <a:t>City_B runs slowest at ~36 min; high-traffic slots see late rates climb to 37.7% vs. 34.3% in low traffic.</a:t>
            </a:r>
            <a:endParaRPr lang="en-US" sz="1000" dirty="0"/>
          </a:p>
        </p:txBody>
      </p:sp>
      <p:sp>
        <p:nvSpPr>
          <p:cNvPr id="19" name="Shape 16"/>
          <p:cNvSpPr/>
          <p:nvPr/>
        </p:nvSpPr>
        <p:spPr>
          <a:xfrm>
            <a:off x="6400800" y="2606040"/>
            <a:ext cx="5166360" cy="3246120"/>
          </a:xfrm>
          <a:prstGeom prst="roundRect">
            <a:avLst>
              <a:gd name="adj" fmla="val 2535"/>
            </a:avLst>
          </a:prstGeom>
          <a:solidFill>
            <a:srgbClr val="FFFFFF"/>
          </a:solidFill>
          <a:ln w="12700">
            <a:solidFill>
              <a:srgbClr val="E7E4F2"/>
            </a:solidFill>
            <a:prstDash val="solid"/>
          </a:ln>
        </p:spPr>
      </p:sp>
      <p:graphicFrame>
        <p:nvGraphicFramePr>
          <p:cNvPr id="20" name="Chart 1"/>
          <p:cNvGraphicFramePr/>
          <p:nvPr/>
        </p:nvGraphicFramePr>
        <p:xfrm>
          <a:off x="6675120" y="2770632"/>
          <a:ext cx="4663440" cy="2788920"/>
        </p:xfrm>
        <a:graphic>
          <a:graphicData uri="http://schemas.openxmlformats.org/drawingml/2006/chart">
            <c:chart xmlns:c="http://schemas.openxmlformats.org/drawingml/2006/chart" xmlns:r="http://schemas.openxmlformats.org/officeDocument/2006/relationships" r:id="rId4"/>
          </a:graphicData>
        </a:graphic>
      </p:graphicFrame>
      <p:sp>
        <p:nvSpPr>
          <p:cNvPr id="21" name="Text 17"/>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900" kern="0" spc="100" dirty="0">
                <a:solidFill>
                  <a:srgbClr val="746F92"/>
                </a:solidFill>
                <a:latin typeface="Calibri" pitchFamily="34" charset="0"/>
                <a:ea typeface="Calibri" pitchFamily="34" charset="-122"/>
                <a:cs typeface="Calibri" pitchFamily="34" charset="-120"/>
              </a:rPr>
              <a:t>FOOD DELIVERY ORDER &amp; DELIVERY PERFORMANCE ANALYSIS</a:t>
            </a:r>
            <a:endParaRPr lang="en-US" sz="900" dirty="0"/>
          </a:p>
        </p:txBody>
      </p:sp>
      <p:sp>
        <p:nvSpPr>
          <p:cNvPr id="22" name="Text 18"/>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746F92"/>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BA5AC0-721C-E316-A297-CB008F3879E4}"/>
              </a:ext>
            </a:extLst>
          </p:cNvPr>
          <p:cNvPicPr>
            <a:picLocks noChangeAspect="1"/>
          </p:cNvPicPr>
          <p:nvPr/>
        </p:nvPicPr>
        <p:blipFill>
          <a:blip r:embed="rId2"/>
          <a:stretch>
            <a:fillRect/>
          </a:stretch>
        </p:blipFill>
        <p:spPr>
          <a:xfrm>
            <a:off x="1104467" y="609355"/>
            <a:ext cx="9983065" cy="5639289"/>
          </a:xfrm>
          <a:prstGeom prst="rect">
            <a:avLst/>
          </a:prstGeom>
        </p:spPr>
      </p:pic>
    </p:spTree>
    <p:extLst>
      <p:ext uri="{BB962C8B-B14F-4D97-AF65-F5344CB8AC3E}">
        <p14:creationId xmlns:p14="http://schemas.microsoft.com/office/powerpoint/2010/main" val="3891823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235"/>
        </a:solidFill>
        <a:effectLst/>
      </p:bgPr>
    </p:bg>
    <p:spTree>
      <p:nvGrpSpPr>
        <p:cNvPr id="1" name=""/>
        <p:cNvGrpSpPr/>
        <p:nvPr/>
      </p:nvGrpSpPr>
      <p:grpSpPr>
        <a:xfrm>
          <a:off x="0" y="0"/>
          <a:ext cx="0" cy="0"/>
          <a:chOff x="0" y="0"/>
          <a:chExt cx="0" cy="0"/>
        </a:xfrm>
      </p:grpSpPr>
      <p:sp>
        <p:nvSpPr>
          <p:cNvPr id="2" name="Shape 0"/>
          <p:cNvSpPr/>
          <p:nvPr/>
        </p:nvSpPr>
        <p:spPr>
          <a:xfrm>
            <a:off x="9692640" y="4206240"/>
            <a:ext cx="4023360" cy="4023360"/>
          </a:xfrm>
          <a:prstGeom prst="ellipse">
            <a:avLst/>
          </a:prstGeom>
          <a:solidFill>
            <a:srgbClr val="2A1D52"/>
          </a:solidFill>
          <a:ln/>
        </p:spPr>
      </p:sp>
      <p:sp>
        <p:nvSpPr>
          <p:cNvPr id="3" name="Shape 1"/>
          <p:cNvSpPr/>
          <p:nvPr/>
        </p:nvSpPr>
        <p:spPr>
          <a:xfrm>
            <a:off x="-1371600" y="-1554480"/>
            <a:ext cx="3291840" cy="3291840"/>
          </a:xfrm>
          <a:prstGeom prst="ellipse">
            <a:avLst/>
          </a:prstGeom>
          <a:solidFill>
            <a:srgbClr val="2A1D52"/>
          </a:solidFill>
          <a:ln/>
        </p:spPr>
      </p:sp>
      <p:sp>
        <p:nvSpPr>
          <p:cNvPr id="4" name="Shape 2"/>
          <p:cNvSpPr/>
          <p:nvPr/>
        </p:nvSpPr>
        <p:spPr>
          <a:xfrm>
            <a:off x="640080" y="548640"/>
            <a:ext cx="777240" cy="777240"/>
          </a:xfrm>
          <a:prstGeom prst="ellipse">
            <a:avLst/>
          </a:prstGeom>
          <a:solidFill>
            <a:srgbClr val="FF6B35"/>
          </a:solidFill>
          <a:ln/>
        </p:spPr>
      </p:sp>
      <p:pic>
        <p:nvPicPr>
          <p:cNvPr id="5" name="Image 0" descr="/home/claude/icons/lightbulb.png"/>
          <p:cNvPicPr>
            <a:picLocks noChangeAspect="1"/>
          </p:cNvPicPr>
          <p:nvPr/>
        </p:nvPicPr>
        <p:blipFill>
          <a:blip r:embed="rId3"/>
          <a:stretch>
            <a:fillRect/>
          </a:stretch>
        </p:blipFill>
        <p:spPr>
          <a:xfrm>
            <a:off x="842162" y="750722"/>
            <a:ext cx="373075" cy="373075"/>
          </a:xfrm>
          <a:prstGeom prst="rect">
            <a:avLst/>
          </a:prstGeom>
        </p:spPr>
      </p:pic>
      <p:sp>
        <p:nvSpPr>
          <p:cNvPr id="6" name="Text 3"/>
          <p:cNvSpPr txBox="1"/>
          <p:nvPr/>
        </p:nvSpPr>
        <p:spPr>
          <a:xfrm>
            <a:off x="1600200" y="594360"/>
            <a:ext cx="9144000" cy="68580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Conclusion &amp; Recommendations</a:t>
            </a:r>
            <a:endParaRPr lang="en-US" sz="2700" dirty="0"/>
          </a:p>
        </p:txBody>
      </p:sp>
      <p:sp>
        <p:nvSpPr>
          <p:cNvPr id="7" name="Text 4"/>
          <p:cNvSpPr txBox="1"/>
          <p:nvPr/>
        </p:nvSpPr>
        <p:spPr>
          <a:xfrm>
            <a:off x="640080" y="1600200"/>
            <a:ext cx="5120640" cy="365760"/>
          </a:xfrm>
          <a:prstGeom prst="rect">
            <a:avLst/>
          </a:prstGeom>
          <a:noFill/>
          <a:ln/>
        </p:spPr>
        <p:txBody>
          <a:bodyPr wrap="square" lIns="0" tIns="0" rIns="0" bIns="0" rtlCol="0" anchor="ctr"/>
          <a:lstStyle/>
          <a:p>
            <a:pPr marL="0" indent="0">
              <a:buNone/>
            </a:pPr>
            <a:r>
              <a:rPr lang="en-US" sz="1500" b="1" dirty="0">
                <a:solidFill>
                  <a:srgbClr val="2EC4B6"/>
                </a:solidFill>
                <a:latin typeface="Calibri" pitchFamily="34" charset="0"/>
                <a:ea typeface="Calibri" pitchFamily="34" charset="-122"/>
                <a:cs typeface="Calibri" pitchFamily="34" charset="-120"/>
              </a:rPr>
              <a:t>What the data tells us</a:t>
            </a:r>
            <a:endParaRPr lang="en-US" sz="1500" dirty="0"/>
          </a:p>
        </p:txBody>
      </p:sp>
      <p:sp>
        <p:nvSpPr>
          <p:cNvPr id="8" name="Text 5"/>
          <p:cNvSpPr txBox="1"/>
          <p:nvPr/>
        </p:nvSpPr>
        <p:spPr>
          <a:xfrm>
            <a:off x="640080" y="2011680"/>
            <a:ext cx="5212080" cy="594360"/>
          </a:xfrm>
          <a:prstGeom prst="rect">
            <a:avLst/>
          </a:prstGeom>
          <a:noFill/>
          <a:ln/>
        </p:spPr>
        <p:txBody>
          <a:bodyPr wrap="square" lIns="0" tIns="0" rIns="0" bIns="0" rtlCol="0" anchor="ctr"/>
          <a:lstStyle/>
          <a:p>
            <a:pPr marL="177800" indent="-177800">
              <a:lnSpc>
                <a:spcPct val="115000"/>
              </a:lnSpc>
              <a:buSzPct val="100000"/>
              <a:buChar char="●"/>
            </a:pPr>
            <a:r>
              <a:rPr lang="en-US" sz="1250" dirty="0">
                <a:solidFill>
                  <a:srgbClr val="DAD5F0"/>
                </a:solidFill>
                <a:latin typeface="Calibri" pitchFamily="34" charset="0"/>
                <a:ea typeface="Calibri" pitchFamily="34" charset="-122"/>
                <a:cs typeface="Calibri" pitchFamily="34" charset="-120"/>
              </a:rPr>
              <a:t>City_A leads in both order volume and revenue, with Fast Food as the dominant restaurant category</a:t>
            </a:r>
            <a:endParaRPr lang="en-US" sz="1250" dirty="0"/>
          </a:p>
        </p:txBody>
      </p:sp>
      <p:sp>
        <p:nvSpPr>
          <p:cNvPr id="9" name="Text 6"/>
          <p:cNvSpPr txBox="1"/>
          <p:nvPr/>
        </p:nvSpPr>
        <p:spPr>
          <a:xfrm>
            <a:off x="640080" y="2633472"/>
            <a:ext cx="5212080" cy="594360"/>
          </a:xfrm>
          <a:prstGeom prst="rect">
            <a:avLst/>
          </a:prstGeom>
          <a:noFill/>
          <a:ln/>
        </p:spPr>
        <p:txBody>
          <a:bodyPr wrap="square" lIns="0" tIns="0" rIns="0" bIns="0" rtlCol="0" anchor="ctr"/>
          <a:lstStyle/>
          <a:p>
            <a:pPr marL="177800" indent="-177800">
              <a:lnSpc>
                <a:spcPct val="115000"/>
              </a:lnSpc>
              <a:buSzPct val="100000"/>
              <a:buChar char="●"/>
            </a:pPr>
            <a:r>
              <a:rPr lang="en-US" sz="1250" dirty="0">
                <a:solidFill>
                  <a:srgbClr val="DAD5F0"/>
                </a:solidFill>
                <a:latin typeface="Calibri" pitchFamily="34" charset="0"/>
                <a:ea typeface="Calibri" pitchFamily="34" charset="-122"/>
                <a:cs typeface="Calibri" pitchFamily="34" charset="-120"/>
              </a:rPr>
              <a:t>Average delivery takes 35.1 minutes, but over a third (35.9%) of orders arrive late</a:t>
            </a:r>
            <a:endParaRPr lang="en-US" sz="1250" dirty="0"/>
          </a:p>
        </p:txBody>
      </p:sp>
      <p:sp>
        <p:nvSpPr>
          <p:cNvPr id="10" name="Text 7"/>
          <p:cNvSpPr txBox="1"/>
          <p:nvPr/>
        </p:nvSpPr>
        <p:spPr>
          <a:xfrm>
            <a:off x="640080" y="3255264"/>
            <a:ext cx="5212080" cy="594360"/>
          </a:xfrm>
          <a:prstGeom prst="rect">
            <a:avLst/>
          </a:prstGeom>
          <a:noFill/>
          <a:ln/>
        </p:spPr>
        <p:txBody>
          <a:bodyPr wrap="square" lIns="0" tIns="0" rIns="0" bIns="0" rtlCol="0" anchor="ctr"/>
          <a:lstStyle/>
          <a:p>
            <a:pPr marL="177800" indent="-177800">
              <a:lnSpc>
                <a:spcPct val="115000"/>
              </a:lnSpc>
              <a:buSzPct val="100000"/>
              <a:buChar char="●"/>
            </a:pPr>
            <a:r>
              <a:rPr lang="en-US" sz="1250" dirty="0">
                <a:solidFill>
                  <a:srgbClr val="DAD5F0"/>
                </a:solidFill>
                <a:latin typeface="Calibri" pitchFamily="34" charset="0"/>
                <a:ea typeface="Calibri" pitchFamily="34" charset="-122"/>
                <a:cs typeface="Calibri" pitchFamily="34" charset="-120"/>
              </a:rPr>
              <a:t>High traffic conditions raise the late-delivery rate from 34.3% to 37.7%</a:t>
            </a:r>
            <a:endParaRPr lang="en-US" sz="1250" dirty="0"/>
          </a:p>
        </p:txBody>
      </p:sp>
      <p:sp>
        <p:nvSpPr>
          <p:cNvPr id="11" name="Text 8"/>
          <p:cNvSpPr txBox="1"/>
          <p:nvPr/>
        </p:nvSpPr>
        <p:spPr>
          <a:xfrm>
            <a:off x="640080" y="3877056"/>
            <a:ext cx="5212080" cy="594360"/>
          </a:xfrm>
          <a:prstGeom prst="rect">
            <a:avLst/>
          </a:prstGeom>
          <a:noFill/>
          <a:ln/>
        </p:spPr>
        <p:txBody>
          <a:bodyPr wrap="square" lIns="0" tIns="0" rIns="0" bIns="0" rtlCol="0" anchor="ctr"/>
          <a:lstStyle/>
          <a:p>
            <a:pPr marL="177800" indent="-177800">
              <a:lnSpc>
                <a:spcPct val="115000"/>
              </a:lnSpc>
              <a:buSzPct val="100000"/>
              <a:buChar char="●"/>
            </a:pPr>
            <a:r>
              <a:rPr lang="en-US" sz="1250" dirty="0">
                <a:solidFill>
                  <a:srgbClr val="DAD5F0"/>
                </a:solidFill>
                <a:latin typeface="Calibri" pitchFamily="34" charset="0"/>
                <a:ea typeface="Calibri" pitchFamily="34" charset="-122"/>
                <a:cs typeface="Calibri" pitchFamily="34" charset="-120"/>
              </a:rPr>
              <a:t>Cancellations are rare (1.74%) but nearly half trace back to driver unassignment</a:t>
            </a:r>
            <a:endParaRPr lang="en-US" sz="1250" dirty="0"/>
          </a:p>
        </p:txBody>
      </p:sp>
      <p:sp>
        <p:nvSpPr>
          <p:cNvPr id="12" name="Shape 9"/>
          <p:cNvSpPr/>
          <p:nvPr/>
        </p:nvSpPr>
        <p:spPr>
          <a:xfrm>
            <a:off x="6080760" y="1645920"/>
            <a:ext cx="0" cy="4480560"/>
          </a:xfrm>
          <a:prstGeom prst="line">
            <a:avLst/>
          </a:prstGeom>
          <a:noFill/>
          <a:ln w="12700">
            <a:solidFill>
              <a:srgbClr val="473B7A"/>
            </a:solidFill>
            <a:prstDash val="solid"/>
          </a:ln>
        </p:spPr>
      </p:sp>
      <p:sp>
        <p:nvSpPr>
          <p:cNvPr id="13" name="Text 10"/>
          <p:cNvSpPr txBox="1"/>
          <p:nvPr/>
        </p:nvSpPr>
        <p:spPr>
          <a:xfrm>
            <a:off x="6355080" y="1600200"/>
            <a:ext cx="5120640" cy="365760"/>
          </a:xfrm>
          <a:prstGeom prst="rect">
            <a:avLst/>
          </a:prstGeom>
          <a:noFill/>
          <a:ln/>
        </p:spPr>
        <p:txBody>
          <a:bodyPr wrap="square" lIns="0" tIns="0" rIns="0" bIns="0" rtlCol="0" anchor="ctr"/>
          <a:lstStyle/>
          <a:p>
            <a:pPr marL="0" indent="0">
              <a:buNone/>
            </a:pPr>
            <a:r>
              <a:rPr lang="en-US" sz="1500" b="1" dirty="0">
                <a:solidFill>
                  <a:srgbClr val="FF6B35"/>
                </a:solidFill>
                <a:latin typeface="Calibri" pitchFamily="34" charset="0"/>
                <a:ea typeface="Calibri" pitchFamily="34" charset="-122"/>
                <a:cs typeface="Calibri" pitchFamily="34" charset="-120"/>
              </a:rPr>
              <a:t>Recommended next steps</a:t>
            </a:r>
            <a:endParaRPr lang="en-US" sz="1500" dirty="0"/>
          </a:p>
        </p:txBody>
      </p:sp>
      <p:sp>
        <p:nvSpPr>
          <p:cNvPr id="14" name="Text 11"/>
          <p:cNvSpPr txBox="1"/>
          <p:nvPr/>
        </p:nvSpPr>
        <p:spPr>
          <a:xfrm>
            <a:off x="6355080" y="2011680"/>
            <a:ext cx="5212080" cy="594360"/>
          </a:xfrm>
          <a:prstGeom prst="rect">
            <a:avLst/>
          </a:prstGeom>
          <a:noFill/>
          <a:ln/>
        </p:spPr>
        <p:txBody>
          <a:bodyPr wrap="square" lIns="0" tIns="0" rIns="0" bIns="0" rtlCol="0" anchor="ctr"/>
          <a:lstStyle/>
          <a:p>
            <a:pPr marL="177800" indent="-177800">
              <a:lnSpc>
                <a:spcPct val="115000"/>
              </a:lnSpc>
              <a:buSzPct val="100000"/>
              <a:buChar char="●"/>
            </a:pPr>
            <a:r>
              <a:rPr lang="en-US" sz="1250" dirty="0">
                <a:solidFill>
                  <a:srgbClr val="DAD5F0"/>
                </a:solidFill>
                <a:latin typeface="Calibri" pitchFamily="34" charset="0"/>
                <a:ea typeface="Calibri" pitchFamily="34" charset="-122"/>
                <a:cs typeface="Calibri" pitchFamily="34" charset="-120"/>
              </a:rPr>
              <a:t>Increase driver allocation during high-traffic hours (12–14h &amp; 18–21h) to cut late deliveries</a:t>
            </a:r>
            <a:endParaRPr lang="en-US" sz="1250" dirty="0"/>
          </a:p>
        </p:txBody>
      </p:sp>
      <p:sp>
        <p:nvSpPr>
          <p:cNvPr id="15" name="Text 12"/>
          <p:cNvSpPr txBox="1"/>
          <p:nvPr/>
        </p:nvSpPr>
        <p:spPr>
          <a:xfrm>
            <a:off x="6355080" y="2633472"/>
            <a:ext cx="5212080" cy="594360"/>
          </a:xfrm>
          <a:prstGeom prst="rect">
            <a:avLst/>
          </a:prstGeom>
          <a:noFill/>
          <a:ln/>
        </p:spPr>
        <p:txBody>
          <a:bodyPr wrap="square" lIns="0" tIns="0" rIns="0" bIns="0" rtlCol="0" anchor="ctr"/>
          <a:lstStyle/>
          <a:p>
            <a:pPr marL="177800" indent="-177800">
              <a:lnSpc>
                <a:spcPct val="115000"/>
              </a:lnSpc>
              <a:buSzPct val="100000"/>
              <a:buChar char="●"/>
            </a:pPr>
            <a:r>
              <a:rPr lang="en-US" sz="1250" dirty="0">
                <a:solidFill>
                  <a:srgbClr val="DAD5F0"/>
                </a:solidFill>
                <a:latin typeface="Calibri" pitchFamily="34" charset="0"/>
                <a:ea typeface="Calibri" pitchFamily="34" charset="-122"/>
                <a:cs typeface="Calibri" pitchFamily="34" charset="-120"/>
              </a:rPr>
              <a:t>Fix driver-unassignment gaps first — it drives ~44% of all cancellations</a:t>
            </a:r>
            <a:endParaRPr lang="en-US" sz="1250" dirty="0"/>
          </a:p>
        </p:txBody>
      </p:sp>
      <p:sp>
        <p:nvSpPr>
          <p:cNvPr id="16" name="Text 13"/>
          <p:cNvSpPr txBox="1"/>
          <p:nvPr/>
        </p:nvSpPr>
        <p:spPr>
          <a:xfrm>
            <a:off x="6355080" y="3255264"/>
            <a:ext cx="5212080" cy="594360"/>
          </a:xfrm>
          <a:prstGeom prst="rect">
            <a:avLst/>
          </a:prstGeom>
          <a:noFill/>
          <a:ln/>
        </p:spPr>
        <p:txBody>
          <a:bodyPr wrap="square" lIns="0" tIns="0" rIns="0" bIns="0" rtlCol="0" anchor="ctr"/>
          <a:lstStyle/>
          <a:p>
            <a:pPr marL="177800" indent="-177800">
              <a:lnSpc>
                <a:spcPct val="115000"/>
              </a:lnSpc>
              <a:buSzPct val="100000"/>
              <a:buChar char="●"/>
            </a:pPr>
            <a:r>
              <a:rPr lang="en-US" sz="1250" dirty="0">
                <a:solidFill>
                  <a:srgbClr val="DAD5F0"/>
                </a:solidFill>
                <a:latin typeface="Calibri" pitchFamily="34" charset="0"/>
                <a:ea typeface="Calibri" pitchFamily="34" charset="-122"/>
                <a:cs typeface="Calibri" pitchFamily="34" charset="-120"/>
              </a:rPr>
              <a:t>Investigate City_B’s slower delivery times for route or staffing bottlenecks</a:t>
            </a:r>
            <a:endParaRPr lang="en-US" sz="1250" dirty="0"/>
          </a:p>
        </p:txBody>
      </p:sp>
      <p:sp>
        <p:nvSpPr>
          <p:cNvPr id="17" name="Text 14"/>
          <p:cNvSpPr txBox="1"/>
          <p:nvPr/>
        </p:nvSpPr>
        <p:spPr>
          <a:xfrm>
            <a:off x="6355080" y="3877056"/>
            <a:ext cx="5212080" cy="594360"/>
          </a:xfrm>
          <a:prstGeom prst="rect">
            <a:avLst/>
          </a:prstGeom>
          <a:noFill/>
          <a:ln/>
        </p:spPr>
        <p:txBody>
          <a:bodyPr wrap="square" lIns="0" tIns="0" rIns="0" bIns="0" rtlCol="0" anchor="ctr"/>
          <a:lstStyle/>
          <a:p>
            <a:pPr marL="177800" indent="-177800">
              <a:lnSpc>
                <a:spcPct val="115000"/>
              </a:lnSpc>
              <a:buSzPct val="100000"/>
              <a:buChar char="●"/>
            </a:pPr>
            <a:r>
              <a:rPr lang="en-US" sz="1250" dirty="0">
                <a:solidFill>
                  <a:srgbClr val="DAD5F0"/>
                </a:solidFill>
                <a:latin typeface="Calibri" pitchFamily="34" charset="0"/>
                <a:ea typeface="Calibri" pitchFamily="34" charset="-122"/>
                <a:cs typeface="Calibri" pitchFamily="34" charset="-120"/>
              </a:rPr>
              <a:t>Promote Digital Wallet payments to reduce cash-handling friction at delivery</a:t>
            </a:r>
            <a:endParaRPr lang="en-US" sz="1250" dirty="0"/>
          </a:p>
        </p:txBody>
      </p:sp>
      <p:sp>
        <p:nvSpPr>
          <p:cNvPr id="18" name="Shape 15"/>
          <p:cNvSpPr/>
          <p:nvPr/>
        </p:nvSpPr>
        <p:spPr>
          <a:xfrm>
            <a:off x="640080" y="5806440"/>
            <a:ext cx="10881360" cy="0"/>
          </a:xfrm>
          <a:prstGeom prst="line">
            <a:avLst/>
          </a:prstGeom>
          <a:noFill/>
          <a:ln w="12700">
            <a:solidFill>
              <a:srgbClr val="473B7A"/>
            </a:solidFill>
            <a:prstDash val="solid"/>
          </a:ln>
        </p:spPr>
      </p:sp>
      <p:sp>
        <p:nvSpPr>
          <p:cNvPr id="19" name="Text 16"/>
          <p:cNvSpPr txBox="1"/>
          <p:nvPr/>
        </p:nvSpPr>
        <p:spPr>
          <a:xfrm>
            <a:off x="640080" y="5943600"/>
            <a:ext cx="4572000" cy="50292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Thank You</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834</Words>
  <Application>Microsoft Office PowerPoint</Application>
  <PresentationFormat>Widescreen</PresentationFormat>
  <Paragraphs>142</Paragraphs>
  <Slides>9</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hp5cd3508z79@outlook.com</cp:lastModifiedBy>
  <cp:revision>4</cp:revision>
  <dcterms:created xsi:type="dcterms:W3CDTF">2026-09-26T02:39:50Z</dcterms:created>
  <dcterms:modified xsi:type="dcterms:W3CDTF">2026-09-26T06:40:48Z</dcterms:modified>
</cp:coreProperties>
</file>